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f55229c-075c-6a55-6d1d-9820a7eee9c2}">
          <p14:sldIdLst>
            <p14:sldId id="256"/>
          </p14:sldIdLst>
        </p14:section>
        <p14:section name="Idea" id="{3d28092c-43d0-7227-75d9-ddd142d13977}">
          <p14:sldIdLst>
            <p14:sldId id="257"/>
          </p14:sldIdLst>
        </p14:section>
        <p14:section name="How it works" id="{ffdb0c02-35ab-032d-8a84-240013f6ff39}">
          <p14:sldIdLst>
            <p14:sldId id="258"/>
          </p14:sldIdLst>
        </p14:section>
        <p14:section name="Rigour" id="{f9481976-e846-d82b-08a7-df3a4fc8bfcb}">
          <p14:sldIdLst>
            <p14:sldId id="259"/>
          </p14:sldIdLst>
        </p14:section>
        <p14:section name="Output" id="{81193bf2-a806-3066-7188-8a8bfac38f45}">
          <p14:sldIdLst>
            <p14:sldId id="260"/>
          </p14:sldIdLst>
        </p14:section>
        <p14:section name="Close" id="{940ae7c2-418b-6df9-a495-8300c5d594fc}">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Candidates</c:v>
                </c:pt>
              </c:strCache>
            </c:strRef>
          </c:tx>
          <c:spPr>
            <a:solidFill>
              <a:srgbClr val="15803D"/>
            </a:solidFill>
            <a:effectLst/>
          </c:spPr>
          <c:invertIfNegative val="0"/>
          <c:dLbls>
            <c:numFmt formatCode="#,##0" sourceLinked="0"/>
            <c:txPr>
              <a:bodyPr/>
              <a:lstStyle/>
              <a:p>
                <a:pPr>
                  <a:defRPr b="1" i="0" strike="noStrike" sz="1300" u="none">
                    <a:solidFill>
                      <a:schemeClr val="tx2"/>
                    </a:solidFill>
                    <a:latin typeface="+mn-lt"/>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15803D"/>
              </a:solidFill>
              <a:effectLst/>
            </c:spPr>
          </c:dPt>
          <c:dPt>
            <c:idx val="2"/>
            <c:invertIfNegative val="0"/>
            <c:bubble3D val="0"/>
            <c:spPr>
              <a:solidFill>
                <a:srgbClr val="15803D"/>
              </a:solidFill>
              <a:effectLst/>
            </c:spPr>
          </c:dPt>
          <c:dPt>
            <c:idx val="3"/>
            <c:invertIfNegative val="0"/>
            <c:bubble3D val="0"/>
            <c:spPr>
              <a:solidFill>
                <a:srgbClr val="15803D"/>
              </a:solidFill>
              <a:effectLst/>
            </c:spPr>
          </c:dPt>
          <c:dPt>
            <c:idx val="4"/>
            <c:invertIfNegative val="0"/>
            <c:bubble3D val="0"/>
            <c:spPr>
              <a:solidFill>
                <a:srgbClr val="15803D"/>
              </a:solidFill>
              <a:effectLst/>
            </c:spPr>
          </c:dPt>
          <c:dPt>
            <c:idx val="5"/>
            <c:invertIfNegative val="0"/>
            <c:bubble3D val="0"/>
            <c:spPr>
              <a:solidFill>
                <a:srgbClr val="15803D"/>
              </a:solidFill>
              <a:effectLst/>
            </c:spPr>
          </c:dPt>
          <c:cat>
            <c:multiLvlStrRef>
              <c:f>Sheet1!$A$2:$A$7</c:f>
              <c:multiLvlStrCache>
                <c:ptCount val="6"/>
                <c:lvl>
                  <c:pt idx="0">
                    <c:v>Candidate breaches</c:v>
                  </c:pt>
                  <c:pt idx="1">
                    <c:v>Structurally valid</c:v>
                  </c:pt>
                  <c:pt idx="2">
                    <c:v>Corroborated (≥2 families)</c:v>
                  </c:pt>
                  <c:pt idx="3">
                    <c:v>Company-specific</c:v>
                  </c:pt>
                  <c:pt idx="4">
                    <c:v>Survived falsification</c:v>
                  </c:pt>
                  <c:pt idx="5">
                    <c:v>Discovery</c:v>
                  </c:pt>
                </c:lvl>
              </c:multiLvlStrCache>
            </c:multiLvlStrRef>
          </c:cat>
          <c:val>
            <c:numRef>
              <c:f>Sheet1!$B$2:$B$7</c:f>
              <c:numCache>
                <c:formatCode>General</c:formatCode>
                <c:ptCount val="6"/>
                <c:pt idx="0">
                  <c:v>143</c:v>
                </c:pt>
                <c:pt idx="1">
                  <c:v>31</c:v>
                </c:pt>
                <c:pt idx="2">
                  <c:v>11</c:v>
                </c:pt>
                <c:pt idx="3">
                  <c:v>4</c:v>
                </c:pt>
                <c:pt idx="4">
                  <c:v>2</c:v>
                </c:pt>
                <c:pt idx="5">
                  <c:v>1</c:v>
                </c:pt>
              </c:numCache>
            </c:numRef>
          </c:val>
        </c:ser>
        <c:dLbls>
          <c:numFmt formatCode="#,##0" sourceLinked="0"/>
          <c:txPr>
            <a:bodyPr/>
            <a:lstStyle/>
            <a:p>
              <a:pPr>
                <a:defRPr b="1" i="0" strike="noStrike" sz="1300" u="none">
                  <a:solidFill>
                    <a:schemeClr val="tx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The Blacklisted. Our project is SIGNAL, an autonomous financial research system for Track A. One idea runs through everything: discoveries are computed, not retrieved. SIGNAL builds three expectations for a company, finds where reality persistently breaks them, and only reports a finding after it survives a serious attempt to disprove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anything genuinely non-obvious isn't written in any single document. Dashboards show ratios but not the drivers; summarisers just repeat management's story. SIGNAL instead builds three expectations: the company's own history, its peers in the same quarter, and what management said. When reality breaks all three persistently, we have a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listed Track A company goes in; no company-specific tuning. We ingest filings, transcripts, RBI data and rating rationales, normalise and reconcile them, build the three expectations, find breaches, triangulate across independent sources, falsify, rank and report. To become a discovery a breach must pass six gates. Crucially, code makes every decision and produces every number; the LLM only reads text and writes prose. Target: about 5 to 7 minutes per live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hand-picked. In the prototype run, 143 candidate breaches were narrowed to 31 structurally valid, 11 corroborated, 4 company-specific, 2 surviving falsification, and 1 discovery. Falsification is a fixed battery of nine alternative explanations registered before results are seen: sector-wide effects, regulation, accounting artefacts, denominator effects, one-offs, prior disclosure, data errors, other mechanisms and counter-evidence. Every rejection is logged with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judge sees. One sentence that tells the real story: the headline NPA improvement is write-off-led, not collections-led, and it coincides with a company-specific rise in fresh slippages that peers don't share — while management credited collections. Evidence strength is Strong: 8 of 9 tests survived, 3 independent source families, 5 quarters of persistence. And any number can be clicked: value, formula, source document and page, highlighted passage. Note this is a synthetic example demonstrating the output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set SIGNAL apart: the LLM never types a number, evidence must come from genuinely independent sources, and every counter-explanation is tested in code rather than argued by a prompt. It generalises by archetype — banks, NBFCs, insurers, infra and holdcos — with no company-specific tuning, and we benchmark on held-out companies and as-of backtests. Everything runs on public data. Thank you — we're happy to take questions, and you can click any number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SIGNAL  ·  The Blacklisted  ·  ATMOS 2026, Track A</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10058400" cy="274320"/>
          </a:xfrm>
          <a:prstGeom prst="rect">
            <a:avLst/>
          </a:prstGeom>
          <a:noFill/>
          <a:ln/>
        </p:spPr>
        <p:txBody>
          <a:bodyPr wrap="square" lIns="0" tIns="0" rIns="0" bIns="0" rtlCol="0" anchor="ctr"/>
          <a:lstStyle/>
          <a:p>
            <a:pPr indent="0" marL="0">
              <a:buNone/>
            </a:pPr>
            <a:r>
              <a:rPr lang="en-US" sz="1200" b="1" spc="200" kern="0" dirty="0">
                <a:solidFill>
                  <a:schemeClr val="accent4"/>
                </a:solidFill>
                <a:latin typeface="Calibri" pitchFamily="34" charset="0"/>
                <a:ea typeface="Calibri" pitchFamily="34" charset="-122"/>
                <a:cs typeface="Calibri" pitchFamily="34" charset="-120"/>
              </a:rPr>
              <a:t>ATMOS 2026  ·  BITS PILANI HYDERABAD  ·  TRACK A — BANKING, NBFCs &amp; FINANCIAL SERVICES</a:t>
            </a:r>
            <a:endParaRPr lang="en-US" sz="1200" dirty="0"/>
          </a:p>
        </p:txBody>
      </p:sp>
      <p:sp>
        <p:nvSpPr>
          <p:cNvPr id="3" name="Text 1"/>
          <p:cNvSpPr txBox="1"/>
          <p:nvPr/>
        </p:nvSpPr>
        <p:spPr>
          <a:xfrm>
            <a:off x="548640" y="1554480"/>
            <a:ext cx="6400800" cy="1097280"/>
          </a:xfrm>
          <a:prstGeom prst="rect">
            <a:avLst/>
          </a:prstGeom>
          <a:noFill/>
          <a:ln/>
        </p:spPr>
        <p:txBody>
          <a:bodyPr wrap="square" lIns="0" tIns="0" rIns="0" bIns="0" rtlCol="0" anchor="ctr"/>
          <a:lstStyle/>
          <a:p>
            <a:pPr indent="0" marL="0">
              <a:buNone/>
            </a:pPr>
            <a:r>
              <a:rPr lang="en-US" sz="8000" b="1" spc="800" kern="0" dirty="0">
                <a:solidFill>
                  <a:schemeClr val="bg1"/>
                </a:solidFill>
                <a:latin typeface="Cambria" pitchFamily="34" charset="0"/>
                <a:ea typeface="Cambria" pitchFamily="34" charset="-122"/>
                <a:cs typeface="Cambria" pitchFamily="34" charset="-120"/>
              </a:rPr>
              <a:t>SIGNAL</a:t>
            </a:r>
            <a:endParaRPr lang="en-US" sz="8000" dirty="0"/>
          </a:p>
        </p:txBody>
      </p:sp>
      <p:sp>
        <p:nvSpPr>
          <p:cNvPr id="4" name="Text 2"/>
          <p:cNvSpPr txBox="1"/>
          <p:nvPr/>
        </p:nvSpPr>
        <p:spPr>
          <a:xfrm>
            <a:off x="548640" y="2697480"/>
            <a:ext cx="6400800" cy="457200"/>
          </a:xfrm>
          <a:prstGeom prst="rect">
            <a:avLst/>
          </a:prstGeom>
          <a:noFill/>
          <a:ln/>
        </p:spPr>
        <p:txBody>
          <a:bodyPr wrap="square" lIns="0" tIns="0" rIns="0" bIns="0" rtlCol="0" anchor="ctr"/>
          <a:lstStyle/>
          <a:p>
            <a:pPr indent="0" marL="0">
              <a:buNone/>
            </a:pPr>
            <a:r>
              <a:rPr lang="en-US" sz="2400" dirty="0">
                <a:solidFill>
                  <a:schemeClr val="accent4"/>
                </a:solidFill>
                <a:latin typeface="Calibri" pitchFamily="34" charset="0"/>
                <a:ea typeface="Calibri" pitchFamily="34" charset="-122"/>
                <a:cs typeface="Calibri" pitchFamily="34" charset="-120"/>
              </a:rPr>
              <a:t>Autonomous Financial Research</a:t>
            </a:r>
            <a:endParaRPr lang="en-US" sz="2400" dirty="0"/>
          </a:p>
        </p:txBody>
      </p:sp>
      <p:sp>
        <p:nvSpPr>
          <p:cNvPr id="5" name="Text 3"/>
          <p:cNvSpPr txBox="1"/>
          <p:nvPr/>
        </p:nvSpPr>
        <p:spPr>
          <a:xfrm>
            <a:off x="548640" y="3429000"/>
            <a:ext cx="6400800" cy="731520"/>
          </a:xfrm>
          <a:prstGeom prst="rect">
            <a:avLst/>
          </a:prstGeom>
          <a:noFill/>
          <a:ln/>
        </p:spPr>
        <p:txBody>
          <a:bodyPr wrap="square" lIns="0" tIns="0" rIns="0" bIns="0" rtlCol="0" anchor="ctr"/>
          <a:lstStyle/>
          <a:p>
            <a:pPr indent="0" marL="0">
              <a:buNone/>
            </a:pPr>
            <a:r>
              <a:rPr lang="en-US" sz="3600" i="1" dirty="0">
                <a:solidFill>
                  <a:schemeClr val="bg1"/>
                </a:solidFill>
                <a:latin typeface="Cambria" pitchFamily="34" charset="0"/>
                <a:ea typeface="Cambria" pitchFamily="34" charset="-122"/>
                <a:cs typeface="Cambria" pitchFamily="34" charset="-120"/>
              </a:rPr>
              <a:t>Computed, not retrieved.</a:t>
            </a:r>
            <a:endParaRPr lang="en-US" sz="3600" dirty="0"/>
          </a:p>
        </p:txBody>
      </p:sp>
      <p:sp>
        <p:nvSpPr>
          <p:cNvPr id="6" name="Text 4"/>
          <p:cNvSpPr txBox="1"/>
          <p:nvPr/>
        </p:nvSpPr>
        <p:spPr>
          <a:xfrm>
            <a:off x="548640" y="4251960"/>
            <a:ext cx="6035040" cy="914400"/>
          </a:xfrm>
          <a:prstGeom prst="rect">
            <a:avLst/>
          </a:prstGeom>
          <a:noFill/>
          <a:ln/>
        </p:spPr>
        <p:txBody>
          <a:bodyPr wrap="square" lIns="0" tIns="0" rIns="0" bIns="0" rtlCol="0" anchor="t"/>
          <a:lstStyle/>
          <a:p>
            <a:pPr indent="0" marL="0">
              <a:buNone/>
            </a:pPr>
            <a:r>
              <a:rPr lang="en-US" sz="1600" dirty="0">
                <a:solidFill>
                  <a:srgbClr val="D1FAE5"/>
                </a:solidFill>
                <a:latin typeface="Calibri" pitchFamily="34" charset="0"/>
                <a:ea typeface="Calibri" pitchFamily="34" charset="-122"/>
                <a:cs typeface="Calibri" pitchFamily="34" charset="-120"/>
              </a:rPr>
              <a:t>SIGNAL finds where a company's numbers persistently break three expectations — and reports a finding only after it survives a pre-registered attempt to disprove it.</a:t>
            </a:r>
            <a:endParaRPr lang="en-US" sz="1600" dirty="0"/>
          </a:p>
        </p:txBody>
      </p:sp>
      <p:sp>
        <p:nvSpPr>
          <p:cNvPr id="7" name="Text 5"/>
          <p:cNvSpPr txBox="1"/>
          <p:nvPr/>
        </p:nvSpPr>
        <p:spPr>
          <a:xfrm>
            <a:off x="548640" y="5989320"/>
            <a:ext cx="7315200" cy="36576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Team The Blacklisted</a:t>
            </a:r>
            <a:pPr indent="0" marL="0">
              <a:buNone/>
            </a:pPr>
            <a:r>
              <a:rPr lang="en-US" sz="1400" dirty="0">
                <a:solidFill>
                  <a:schemeClr val="accent4"/>
                </a:solidFill>
                <a:latin typeface="Calibri" pitchFamily="34" charset="0"/>
                <a:ea typeface="Calibri" pitchFamily="34" charset="-122"/>
                <a:cs typeface="Calibri" pitchFamily="34" charset="-120"/>
              </a:rPr>
              <a:t>   ·   Round 2 Presentation</a:t>
            </a:r>
            <a:endParaRPr lang="en-US" sz="1400" dirty="0"/>
          </a:p>
        </p:txBody>
      </p:sp>
      <p:sp>
        <p:nvSpPr>
          <p:cNvPr id="8" name="exp0"/>
          <p:cNvSpPr/>
          <p:nvPr/>
        </p:nvSpPr>
        <p:spPr>
          <a:xfrm>
            <a:off x="7635240" y="1417320"/>
            <a:ext cx="3977640" cy="713232"/>
          </a:xfrm>
          <a:prstGeom prst="roundRect">
            <a:avLst>
              <a:gd name="adj" fmla="val 10256"/>
            </a:avLst>
          </a:prstGeom>
          <a:solidFill>
            <a:schemeClr val="bg1">
              <a:alpha val="12000"/>
            </a:schemeClr>
          </a:solidFill>
          <a:ln w="9525">
            <a:solidFill>
              <a:schemeClr val="accent4">
                <a:alpha val="50000"/>
              </a:schemeClr>
            </a:solidFill>
            <a:prstDash val="solid"/>
          </a:ln>
        </p:spPr>
      </p:sp>
      <p:sp>
        <p:nvSpPr>
          <p:cNvPr id="9" name="Text 7"/>
          <p:cNvSpPr txBox="1"/>
          <p:nvPr/>
        </p:nvSpPr>
        <p:spPr>
          <a:xfrm>
            <a:off x="7909560" y="1417320"/>
            <a:ext cx="1463040" cy="713232"/>
          </a:xfrm>
          <a:prstGeom prst="rect">
            <a:avLst/>
          </a:prstGeom>
          <a:noFill/>
          <a:ln/>
        </p:spPr>
        <p:txBody>
          <a:bodyPr wrap="square" lIns="0" tIns="0" rIns="0" bIns="0" rtlCol="0" anchor="ctr"/>
          <a:lstStyle/>
          <a:p>
            <a:pPr indent="0" marL="0">
              <a:buNone/>
            </a:pPr>
            <a:r>
              <a:rPr lang="en-US" sz="1500" b="1" spc="300" kern="0" dirty="0">
                <a:solidFill>
                  <a:schemeClr val="bg1"/>
                </a:solidFill>
                <a:latin typeface="Calibri" pitchFamily="34" charset="0"/>
                <a:ea typeface="Calibri" pitchFamily="34" charset="-122"/>
                <a:cs typeface="Calibri" pitchFamily="34" charset="-120"/>
              </a:rPr>
              <a:t>SELF</a:t>
            </a:r>
            <a:endParaRPr lang="en-US" sz="1500" dirty="0"/>
          </a:p>
        </p:txBody>
      </p:sp>
      <p:sp>
        <p:nvSpPr>
          <p:cNvPr id="10" name="Text 8"/>
          <p:cNvSpPr txBox="1"/>
          <p:nvPr/>
        </p:nvSpPr>
        <p:spPr>
          <a:xfrm>
            <a:off x="9326880" y="1417320"/>
            <a:ext cx="2148840" cy="713232"/>
          </a:xfrm>
          <a:prstGeom prst="rect">
            <a:avLst/>
          </a:prstGeom>
          <a:noFill/>
          <a:ln/>
        </p:spPr>
        <p:txBody>
          <a:bodyPr wrap="square" lIns="0" tIns="0" rIns="0" bIns="0" rtlCol="0" anchor="ctr"/>
          <a:lstStyle/>
          <a:p>
            <a:pPr indent="0" marL="0">
              <a:buNone/>
            </a:pPr>
            <a:r>
              <a:rPr lang="en-US" sz="1300" dirty="0">
                <a:solidFill>
                  <a:srgbClr val="D1FAE5"/>
                </a:solidFill>
                <a:latin typeface="Calibri" pitchFamily="34" charset="0"/>
                <a:ea typeface="Calibri" pitchFamily="34" charset="-122"/>
                <a:cs typeface="Calibri" pitchFamily="34" charset="-120"/>
              </a:rPr>
              <a:t>What its own history predicts</a:t>
            </a:r>
            <a:endParaRPr lang="en-US" sz="1300" dirty="0"/>
          </a:p>
        </p:txBody>
      </p:sp>
      <p:sp>
        <p:nvSpPr>
          <p:cNvPr id="11" name="exp1"/>
          <p:cNvSpPr/>
          <p:nvPr/>
        </p:nvSpPr>
        <p:spPr>
          <a:xfrm>
            <a:off x="7635240" y="2286000"/>
            <a:ext cx="3977640" cy="713232"/>
          </a:xfrm>
          <a:prstGeom prst="roundRect">
            <a:avLst>
              <a:gd name="adj" fmla="val 10256"/>
            </a:avLst>
          </a:prstGeom>
          <a:solidFill>
            <a:schemeClr val="bg1">
              <a:alpha val="12000"/>
            </a:schemeClr>
          </a:solidFill>
          <a:ln w="9525">
            <a:solidFill>
              <a:schemeClr val="accent4">
                <a:alpha val="50000"/>
              </a:schemeClr>
            </a:solidFill>
            <a:prstDash val="solid"/>
          </a:ln>
        </p:spPr>
      </p:sp>
      <p:sp>
        <p:nvSpPr>
          <p:cNvPr id="12" name="Text 10"/>
          <p:cNvSpPr txBox="1"/>
          <p:nvPr/>
        </p:nvSpPr>
        <p:spPr>
          <a:xfrm>
            <a:off x="7909560" y="2286000"/>
            <a:ext cx="1463040" cy="713232"/>
          </a:xfrm>
          <a:prstGeom prst="rect">
            <a:avLst/>
          </a:prstGeom>
          <a:noFill/>
          <a:ln/>
        </p:spPr>
        <p:txBody>
          <a:bodyPr wrap="square" lIns="0" tIns="0" rIns="0" bIns="0" rtlCol="0" anchor="ctr"/>
          <a:lstStyle/>
          <a:p>
            <a:pPr indent="0" marL="0">
              <a:buNone/>
            </a:pPr>
            <a:r>
              <a:rPr lang="en-US" sz="1500" b="1" spc="300" kern="0" dirty="0">
                <a:solidFill>
                  <a:schemeClr val="bg1"/>
                </a:solidFill>
                <a:latin typeface="Calibri" pitchFamily="34" charset="0"/>
                <a:ea typeface="Calibri" pitchFamily="34" charset="-122"/>
                <a:cs typeface="Calibri" pitchFamily="34" charset="-120"/>
              </a:rPr>
              <a:t>PEER</a:t>
            </a:r>
            <a:endParaRPr lang="en-US" sz="1500" dirty="0"/>
          </a:p>
        </p:txBody>
      </p:sp>
      <p:sp>
        <p:nvSpPr>
          <p:cNvPr id="13" name="Text 11"/>
          <p:cNvSpPr txBox="1"/>
          <p:nvPr/>
        </p:nvSpPr>
        <p:spPr>
          <a:xfrm>
            <a:off x="9326880" y="2286000"/>
            <a:ext cx="2148840" cy="713232"/>
          </a:xfrm>
          <a:prstGeom prst="rect">
            <a:avLst/>
          </a:prstGeom>
          <a:noFill/>
          <a:ln/>
        </p:spPr>
        <p:txBody>
          <a:bodyPr wrap="square" lIns="0" tIns="0" rIns="0" bIns="0" rtlCol="0" anchor="ctr"/>
          <a:lstStyle/>
          <a:p>
            <a:pPr indent="0" marL="0">
              <a:buNone/>
            </a:pPr>
            <a:r>
              <a:rPr lang="en-US" sz="1300" dirty="0">
                <a:solidFill>
                  <a:srgbClr val="D1FAE5"/>
                </a:solidFill>
                <a:latin typeface="Calibri" pitchFamily="34" charset="0"/>
                <a:ea typeface="Calibri" pitchFamily="34" charset="-122"/>
                <a:cs typeface="Calibri" pitchFamily="34" charset="-120"/>
              </a:rPr>
              <a:t>What comparable firms show</a:t>
            </a:r>
            <a:endParaRPr lang="en-US" sz="1300" dirty="0"/>
          </a:p>
        </p:txBody>
      </p:sp>
      <p:sp>
        <p:nvSpPr>
          <p:cNvPr id="14" name="exp2"/>
          <p:cNvSpPr/>
          <p:nvPr/>
        </p:nvSpPr>
        <p:spPr>
          <a:xfrm>
            <a:off x="7635240" y="3154680"/>
            <a:ext cx="3977640" cy="713232"/>
          </a:xfrm>
          <a:prstGeom prst="roundRect">
            <a:avLst>
              <a:gd name="adj" fmla="val 10256"/>
            </a:avLst>
          </a:prstGeom>
          <a:solidFill>
            <a:schemeClr val="bg1">
              <a:alpha val="12000"/>
            </a:schemeClr>
          </a:solidFill>
          <a:ln w="9525">
            <a:solidFill>
              <a:schemeClr val="accent4">
                <a:alpha val="50000"/>
              </a:schemeClr>
            </a:solidFill>
            <a:prstDash val="solid"/>
          </a:ln>
        </p:spPr>
      </p:sp>
      <p:sp>
        <p:nvSpPr>
          <p:cNvPr id="15" name="Text 13"/>
          <p:cNvSpPr txBox="1"/>
          <p:nvPr/>
        </p:nvSpPr>
        <p:spPr>
          <a:xfrm>
            <a:off x="7909560" y="3154680"/>
            <a:ext cx="1463040" cy="713232"/>
          </a:xfrm>
          <a:prstGeom prst="rect">
            <a:avLst/>
          </a:prstGeom>
          <a:noFill/>
          <a:ln/>
        </p:spPr>
        <p:txBody>
          <a:bodyPr wrap="square" lIns="0" tIns="0" rIns="0" bIns="0" rtlCol="0" anchor="ctr"/>
          <a:lstStyle/>
          <a:p>
            <a:pPr indent="0" marL="0">
              <a:buNone/>
            </a:pPr>
            <a:r>
              <a:rPr lang="en-US" sz="1500" b="1" spc="300" kern="0" dirty="0">
                <a:solidFill>
                  <a:schemeClr val="bg1"/>
                </a:solidFill>
                <a:latin typeface="Calibri" pitchFamily="34" charset="0"/>
                <a:ea typeface="Calibri" pitchFamily="34" charset="-122"/>
                <a:cs typeface="Calibri" pitchFamily="34" charset="-120"/>
              </a:rPr>
              <a:t>NARRATIVE</a:t>
            </a:r>
            <a:endParaRPr lang="en-US" sz="1500" dirty="0"/>
          </a:p>
        </p:txBody>
      </p:sp>
      <p:sp>
        <p:nvSpPr>
          <p:cNvPr id="16" name="Text 14"/>
          <p:cNvSpPr txBox="1"/>
          <p:nvPr/>
        </p:nvSpPr>
        <p:spPr>
          <a:xfrm>
            <a:off x="9326880" y="3154680"/>
            <a:ext cx="2148840" cy="713232"/>
          </a:xfrm>
          <a:prstGeom prst="rect">
            <a:avLst/>
          </a:prstGeom>
          <a:noFill/>
          <a:ln/>
        </p:spPr>
        <p:txBody>
          <a:bodyPr wrap="square" lIns="0" tIns="0" rIns="0" bIns="0" rtlCol="0" anchor="ctr"/>
          <a:lstStyle/>
          <a:p>
            <a:pPr indent="0" marL="0">
              <a:buNone/>
            </a:pPr>
            <a:r>
              <a:rPr lang="en-US" sz="1300" dirty="0">
                <a:solidFill>
                  <a:srgbClr val="D1FAE5"/>
                </a:solidFill>
                <a:latin typeface="Calibri" pitchFamily="34" charset="0"/>
                <a:ea typeface="Calibri" pitchFamily="34" charset="-122"/>
                <a:cs typeface="Calibri" pitchFamily="34" charset="-120"/>
              </a:rPr>
              <a:t>What management said</a:t>
            </a:r>
            <a:endParaRPr lang="en-US" sz="1300" dirty="0"/>
          </a:p>
        </p:txBody>
      </p:sp>
      <p:sp>
        <p:nvSpPr>
          <p:cNvPr id="17" name="Text 15"/>
          <p:cNvSpPr txBox="1"/>
          <p:nvPr/>
        </p:nvSpPr>
        <p:spPr>
          <a:xfrm>
            <a:off x="7635240" y="4023360"/>
            <a:ext cx="3977640" cy="320040"/>
          </a:xfrm>
          <a:prstGeom prst="rect">
            <a:avLst/>
          </a:prstGeom>
          <a:noFill/>
          <a:ln/>
        </p:spPr>
        <p:txBody>
          <a:bodyPr wrap="square" lIns="0" tIns="0" rIns="0" bIns="0" rtlCol="0" anchor="ctr"/>
          <a:lstStyle/>
          <a:p>
            <a:pPr algn="ctr" indent="0" marL="0">
              <a:buNone/>
            </a:pPr>
            <a:r>
              <a:rPr lang="en-US" sz="1300" i="1" dirty="0">
                <a:solidFill>
                  <a:schemeClr val="accent4"/>
                </a:solidFill>
                <a:latin typeface="Calibri" pitchFamily="34" charset="0"/>
                <a:ea typeface="Calibri" pitchFamily="34" charset="-122"/>
                <a:cs typeface="Calibri" pitchFamily="34" charset="-120"/>
              </a:rPr>
              <a:t>vs  observed, reconciled filings</a:t>
            </a:r>
            <a:endParaRPr lang="en-US" sz="1300" dirty="0"/>
          </a:p>
        </p:txBody>
      </p:sp>
      <p:sp>
        <p:nvSpPr>
          <p:cNvPr id="18" name="breach"/>
          <p:cNvSpPr/>
          <p:nvPr/>
        </p:nvSpPr>
        <p:spPr>
          <a:xfrm>
            <a:off x="7635240" y="4480560"/>
            <a:ext cx="3977640" cy="868680"/>
          </a:xfrm>
          <a:prstGeom prst="roundRect">
            <a:avLst>
              <a:gd name="adj" fmla="val 8421"/>
            </a:avLst>
          </a:prstGeom>
          <a:solidFill>
            <a:schemeClr val="bg1"/>
          </a:solidFill>
          <a:ln w="12700">
            <a:solidFill>
              <a:schemeClr val="bg1"/>
            </a:solidFill>
            <a:prstDash val="solid"/>
          </a:ln>
        </p:spPr>
      </p:sp>
      <p:sp>
        <p:nvSpPr>
          <p:cNvPr id="19" name="Text 17"/>
          <p:cNvSpPr txBox="1"/>
          <p:nvPr/>
        </p:nvSpPr>
        <p:spPr>
          <a:xfrm>
            <a:off x="7909560" y="4480560"/>
            <a:ext cx="3429000" cy="868680"/>
          </a:xfrm>
          <a:prstGeom prst="rect">
            <a:avLst/>
          </a:prstGeom>
          <a:noFill/>
          <a:ln/>
        </p:spPr>
        <p:txBody>
          <a:bodyPr wrap="square" lIns="0" tIns="0" rIns="0" bIns="0" rtlCol="0" anchor="ctr"/>
          <a:lstStyle/>
          <a:p>
            <a:pPr indent="0" marL="0">
              <a:buNone/>
            </a:pPr>
            <a:r>
              <a:rPr lang="en-US" sz="1400" b="1" spc="300" kern="0" dirty="0">
                <a:solidFill>
                  <a:schemeClr val="accent1"/>
                </a:solidFill>
                <a:latin typeface="Calibri" pitchFamily="34" charset="0"/>
                <a:ea typeface="Calibri" pitchFamily="34" charset="-122"/>
                <a:cs typeface="Calibri" pitchFamily="34" charset="-120"/>
              </a:rPr>
              <a:t>BREACH</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a candidate — not yet a discovery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Retrieval finds what's said. SIGNAL computes what isn't</a:t>
            </a:r>
            <a:endParaRPr lang="en-US" sz="3200" dirty="0"/>
          </a:p>
        </p:txBody>
      </p:sp>
      <p:sp>
        <p:nvSpPr>
          <p:cNvPr id="3" name="quote"/>
          <p:cNvSpPr/>
          <p:nvPr/>
        </p:nvSpPr>
        <p:spPr>
          <a:xfrm>
            <a:off x="548640" y="1417320"/>
            <a:ext cx="5486400" cy="1600200"/>
          </a:xfrm>
          <a:prstGeom prst="roundRect">
            <a:avLst>
              <a:gd name="adj" fmla="val 4571"/>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 name="Text 2"/>
          <p:cNvSpPr txBox="1"/>
          <p:nvPr/>
        </p:nvSpPr>
        <p:spPr>
          <a:xfrm>
            <a:off x="868680" y="1600200"/>
            <a:ext cx="484632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THE PROBLEM</a:t>
            </a:r>
            <a:endParaRPr lang="en-US" sz="1200" dirty="0"/>
          </a:p>
        </p:txBody>
      </p:sp>
      <p:sp>
        <p:nvSpPr>
          <p:cNvPr id="5" name="Text 3"/>
          <p:cNvSpPr txBox="1"/>
          <p:nvPr/>
        </p:nvSpPr>
        <p:spPr>
          <a:xfrm>
            <a:off x="868680" y="1920240"/>
            <a:ext cx="4846320" cy="960120"/>
          </a:xfrm>
          <a:prstGeom prst="rect">
            <a:avLst/>
          </a:prstGeom>
          <a:noFill/>
          <a:ln/>
        </p:spPr>
        <p:txBody>
          <a:bodyPr wrap="square" lIns="0" tIns="0" rIns="0" bIns="0" rtlCol="0" anchor="t"/>
          <a:lstStyle/>
          <a:p>
            <a:pPr indent="0" marL="0">
              <a:buNone/>
            </a:pPr>
            <a:r>
              <a:rPr lang="en-US" sz="1700" dirty="0">
                <a:solidFill>
                  <a:schemeClr val="tx1"/>
                </a:solidFill>
                <a:latin typeface="Cambria" pitchFamily="34" charset="0"/>
                <a:ea typeface="Cambria" pitchFamily="34" charset="-122"/>
                <a:cs typeface="Cambria" pitchFamily="34" charset="-120"/>
              </a:rPr>
              <a:t>A non-obvious finding is, almost by definition, not written down anywhere. Retrieval can only return what someone has already said.</a:t>
            </a:r>
            <a:endParaRPr lang="en-US" sz="1700" dirty="0"/>
          </a:p>
        </p:txBody>
      </p:sp>
      <p:sp>
        <p:nvSpPr>
          <p:cNvPr id="6" name="cmp0"/>
          <p:cNvSpPr/>
          <p:nvPr/>
        </p:nvSpPr>
        <p:spPr>
          <a:xfrm>
            <a:off x="548640" y="3246120"/>
            <a:ext cx="5486400" cy="841248"/>
          </a:xfrm>
          <a:prstGeom prst="roundRect">
            <a:avLst>
              <a:gd name="adj" fmla="val 8696"/>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7" name="Text 5"/>
          <p:cNvSpPr txBox="1"/>
          <p:nvPr/>
        </p:nvSpPr>
        <p:spPr>
          <a:xfrm>
            <a:off x="868680" y="3246120"/>
            <a:ext cx="1463040" cy="84124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Dashboards</a:t>
            </a:r>
            <a:endParaRPr lang="en-US" sz="1600" dirty="0"/>
          </a:p>
        </p:txBody>
      </p:sp>
      <p:sp>
        <p:nvSpPr>
          <p:cNvPr id="8" name="Text 6"/>
          <p:cNvSpPr txBox="1"/>
          <p:nvPr/>
        </p:nvSpPr>
        <p:spPr>
          <a:xfrm>
            <a:off x="2331720" y="3246120"/>
            <a:ext cx="3520440" cy="84124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show headline ratios — not the drivers underneath them.</a:t>
            </a:r>
            <a:endParaRPr lang="en-US" sz="1400" dirty="0"/>
          </a:p>
        </p:txBody>
      </p:sp>
      <p:sp>
        <p:nvSpPr>
          <p:cNvPr id="9" name="cmp1"/>
          <p:cNvSpPr/>
          <p:nvPr/>
        </p:nvSpPr>
        <p:spPr>
          <a:xfrm>
            <a:off x="548640" y="4233672"/>
            <a:ext cx="5486400" cy="841248"/>
          </a:xfrm>
          <a:prstGeom prst="roundRect">
            <a:avLst>
              <a:gd name="adj" fmla="val 8696"/>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0" name="Text 8"/>
          <p:cNvSpPr txBox="1"/>
          <p:nvPr/>
        </p:nvSpPr>
        <p:spPr>
          <a:xfrm>
            <a:off x="868680" y="4233672"/>
            <a:ext cx="1463040" cy="84124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Summarisers</a:t>
            </a:r>
            <a:endParaRPr lang="en-US" sz="1600" dirty="0"/>
          </a:p>
        </p:txBody>
      </p:sp>
      <p:sp>
        <p:nvSpPr>
          <p:cNvPr id="11" name="Text 9"/>
          <p:cNvSpPr txBox="1"/>
          <p:nvPr/>
        </p:nvSpPr>
        <p:spPr>
          <a:xfrm>
            <a:off x="2331720" y="4233672"/>
            <a:ext cx="3520440" cy="84124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repeat the narrative; a "critic" prompt argues, it does not test.</a:t>
            </a:r>
            <a:endParaRPr lang="en-US" sz="1400" dirty="0"/>
          </a:p>
        </p:txBody>
      </p:sp>
      <p:sp>
        <p:nvSpPr>
          <p:cNvPr id="12" name="cmp2"/>
          <p:cNvSpPr/>
          <p:nvPr/>
        </p:nvSpPr>
        <p:spPr>
          <a:xfrm>
            <a:off x="548640" y="5221224"/>
            <a:ext cx="5486400" cy="841248"/>
          </a:xfrm>
          <a:prstGeom prst="roundRect">
            <a:avLst>
              <a:gd name="adj" fmla="val 8696"/>
            </a:avLst>
          </a:prstGeom>
          <a:solidFill>
            <a:schemeClr val="tx2"/>
          </a:solidFill>
          <a:ln w="9525">
            <a:solidFill>
              <a:schemeClr val="tx2"/>
            </a:solidFill>
            <a:prstDash val="solid"/>
          </a:ln>
          <a:effectLst>
            <a:outerShdw sx="100000" sy="100000" kx="0" ky="0" algn="bl" rotWithShape="0" blurRad="101600" dist="25400" dir="5400000">
              <a:srgbClr val="0F2E22">
                <a:alpha val="10000"/>
              </a:srgbClr>
            </a:outerShdw>
          </a:effectLst>
        </p:spPr>
      </p:sp>
      <p:sp>
        <p:nvSpPr>
          <p:cNvPr id="13" name="Text 11"/>
          <p:cNvSpPr txBox="1"/>
          <p:nvPr/>
        </p:nvSpPr>
        <p:spPr>
          <a:xfrm>
            <a:off x="868680" y="5221224"/>
            <a:ext cx="1463040" cy="841248"/>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SIGNAL</a:t>
            </a:r>
            <a:endParaRPr lang="en-US" sz="1600" dirty="0"/>
          </a:p>
        </p:txBody>
      </p:sp>
      <p:sp>
        <p:nvSpPr>
          <p:cNvPr id="14" name="Text 12"/>
          <p:cNvSpPr txBox="1"/>
          <p:nvPr/>
        </p:nvSpPr>
        <p:spPr>
          <a:xfrm>
            <a:off x="2331720" y="5221224"/>
            <a:ext cx="3520440" cy="841248"/>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computes where history ≠ peers ≠ narrative, then tries to explain it away.</a:t>
            </a:r>
            <a:endParaRPr lang="en-US" sz="1400" dirty="0"/>
          </a:p>
        </p:txBody>
      </p:sp>
      <p:sp>
        <p:nvSpPr>
          <p:cNvPr id="15" name="Text 13"/>
          <p:cNvSpPr txBox="1"/>
          <p:nvPr/>
        </p:nvSpPr>
        <p:spPr>
          <a:xfrm>
            <a:off x="6400800" y="1463040"/>
            <a:ext cx="5242255"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THREE INDEPENDENT EXPECTATIONS</a:t>
            </a:r>
            <a:endParaRPr lang="en-US" sz="1200" dirty="0"/>
          </a:p>
        </p:txBody>
      </p:sp>
      <p:sp>
        <p:nvSpPr>
          <p:cNvPr id="16" name="ex0"/>
          <p:cNvSpPr/>
          <p:nvPr/>
        </p:nvSpPr>
        <p:spPr>
          <a:xfrm>
            <a:off x="6400800" y="1828800"/>
            <a:ext cx="5242255" cy="987552"/>
          </a:xfrm>
          <a:prstGeom prst="roundRect">
            <a:avLst>
              <a:gd name="adj" fmla="val 740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7" name="Text 15"/>
          <p:cNvSpPr txBox="1"/>
          <p:nvPr/>
        </p:nvSpPr>
        <p:spPr>
          <a:xfrm>
            <a:off x="6675120" y="1828800"/>
            <a:ext cx="1371600" cy="987552"/>
          </a:xfrm>
          <a:prstGeom prst="rect">
            <a:avLst/>
          </a:prstGeom>
          <a:noFill/>
          <a:ln/>
        </p:spPr>
        <p:txBody>
          <a:bodyPr wrap="square" lIns="0" tIns="0" rIns="0" bIns="0" rtlCol="0" anchor="ctr"/>
          <a:lstStyle/>
          <a:p>
            <a:pPr indent="0" marL="0">
              <a:buNone/>
            </a:pPr>
            <a:r>
              <a:rPr lang="en-US" sz="1500" b="1" spc="200" kern="0" dirty="0">
                <a:solidFill>
                  <a:schemeClr val="tx2"/>
                </a:solidFill>
                <a:latin typeface="Calibri" pitchFamily="34" charset="0"/>
                <a:ea typeface="Calibri" pitchFamily="34" charset="-122"/>
                <a:cs typeface="Calibri" pitchFamily="34" charset="-120"/>
              </a:rPr>
              <a:t>SELF</a:t>
            </a:r>
            <a:endParaRPr lang="en-US" sz="1500" dirty="0"/>
          </a:p>
          <a:p>
            <a:pPr indent="0" marL="0">
              <a:buNone/>
            </a:pPr>
            <a:r>
              <a:rPr lang="en-US" sz="1100" dirty="0">
                <a:solidFill>
                  <a:schemeClr val="accent6"/>
                </a:solidFill>
                <a:latin typeface="Calibri" pitchFamily="34" charset="0"/>
                <a:ea typeface="Calibri" pitchFamily="34" charset="-122"/>
                <a:cs typeface="Calibri" pitchFamily="34" charset="-120"/>
              </a:rPr>
              <a:t>Temporal</a:t>
            </a:r>
            <a:endParaRPr lang="en-US" sz="1500" dirty="0"/>
          </a:p>
        </p:txBody>
      </p:sp>
      <p:sp>
        <p:nvSpPr>
          <p:cNvPr id="18" name="Text 16"/>
          <p:cNvSpPr txBox="1"/>
          <p:nvPr/>
        </p:nvSpPr>
        <p:spPr>
          <a:xfrm>
            <a:off x="8092440" y="1828800"/>
            <a:ext cx="3322015" cy="9875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The company's own decomposed history — e.g. GNPA split into slippages, upgrades, recoveries, write-offs.</a:t>
            </a:r>
            <a:endParaRPr lang="en-US" sz="1300" dirty="0"/>
          </a:p>
        </p:txBody>
      </p:sp>
      <p:sp>
        <p:nvSpPr>
          <p:cNvPr id="19" name="ex1"/>
          <p:cNvSpPr/>
          <p:nvPr/>
        </p:nvSpPr>
        <p:spPr>
          <a:xfrm>
            <a:off x="6400800" y="2944368"/>
            <a:ext cx="5242255" cy="987552"/>
          </a:xfrm>
          <a:prstGeom prst="roundRect">
            <a:avLst>
              <a:gd name="adj" fmla="val 740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20" name="Text 18"/>
          <p:cNvSpPr txBox="1"/>
          <p:nvPr/>
        </p:nvSpPr>
        <p:spPr>
          <a:xfrm>
            <a:off x="6675120" y="2944368"/>
            <a:ext cx="1371600" cy="987552"/>
          </a:xfrm>
          <a:prstGeom prst="rect">
            <a:avLst/>
          </a:prstGeom>
          <a:noFill/>
          <a:ln/>
        </p:spPr>
        <p:txBody>
          <a:bodyPr wrap="square" lIns="0" tIns="0" rIns="0" bIns="0" rtlCol="0" anchor="ctr"/>
          <a:lstStyle/>
          <a:p>
            <a:pPr indent="0" marL="0">
              <a:buNone/>
            </a:pPr>
            <a:r>
              <a:rPr lang="en-US" sz="1500" b="1" spc="200" kern="0" dirty="0">
                <a:solidFill>
                  <a:schemeClr val="tx2"/>
                </a:solidFill>
                <a:latin typeface="Calibri" pitchFamily="34" charset="0"/>
                <a:ea typeface="Calibri" pitchFamily="34" charset="-122"/>
                <a:cs typeface="Calibri" pitchFamily="34" charset="-120"/>
              </a:rPr>
              <a:t>PEER</a:t>
            </a:r>
            <a:endParaRPr lang="en-US" sz="1500" dirty="0"/>
          </a:p>
          <a:p>
            <a:pPr indent="0" marL="0">
              <a:buNone/>
            </a:pPr>
            <a:r>
              <a:rPr lang="en-US" sz="1100" dirty="0">
                <a:solidFill>
                  <a:schemeClr val="accent6"/>
                </a:solidFill>
                <a:latin typeface="Calibri" pitchFamily="34" charset="0"/>
                <a:ea typeface="Calibri" pitchFamily="34" charset="-122"/>
                <a:cs typeface="Calibri" pitchFamily="34" charset="-120"/>
              </a:rPr>
              <a:t>Cross-section</a:t>
            </a:r>
            <a:endParaRPr lang="en-US" sz="1500" dirty="0"/>
          </a:p>
        </p:txBody>
      </p:sp>
      <p:sp>
        <p:nvSpPr>
          <p:cNvPr id="21" name="Text 19"/>
          <p:cNvSpPr txBox="1"/>
          <p:nvPr/>
        </p:nvSpPr>
        <p:spPr>
          <a:xfrm>
            <a:off x="8092440" y="2944368"/>
            <a:ext cx="3322015" cy="9875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Same-archetype peers in the same quarter — separates company-specific moves from sector noise.</a:t>
            </a:r>
            <a:endParaRPr lang="en-US" sz="1300" dirty="0"/>
          </a:p>
        </p:txBody>
      </p:sp>
      <p:sp>
        <p:nvSpPr>
          <p:cNvPr id="22" name="ex2"/>
          <p:cNvSpPr/>
          <p:nvPr/>
        </p:nvSpPr>
        <p:spPr>
          <a:xfrm>
            <a:off x="6400800" y="4059936"/>
            <a:ext cx="5242255" cy="987552"/>
          </a:xfrm>
          <a:prstGeom prst="roundRect">
            <a:avLst>
              <a:gd name="adj" fmla="val 740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23" name="Text 21"/>
          <p:cNvSpPr txBox="1"/>
          <p:nvPr/>
        </p:nvSpPr>
        <p:spPr>
          <a:xfrm>
            <a:off x="6675120" y="4059936"/>
            <a:ext cx="1371600" cy="987552"/>
          </a:xfrm>
          <a:prstGeom prst="rect">
            <a:avLst/>
          </a:prstGeom>
          <a:noFill/>
          <a:ln/>
        </p:spPr>
        <p:txBody>
          <a:bodyPr wrap="square" lIns="0" tIns="0" rIns="0" bIns="0" rtlCol="0" anchor="ctr"/>
          <a:lstStyle/>
          <a:p>
            <a:pPr indent="0" marL="0">
              <a:buNone/>
            </a:pPr>
            <a:r>
              <a:rPr lang="en-US" sz="1500" b="1" spc="200" kern="0" dirty="0">
                <a:solidFill>
                  <a:schemeClr val="tx2"/>
                </a:solidFill>
                <a:latin typeface="Calibri" pitchFamily="34" charset="0"/>
                <a:ea typeface="Calibri" pitchFamily="34" charset="-122"/>
                <a:cs typeface="Calibri" pitchFamily="34" charset="-120"/>
              </a:rPr>
              <a:t>NARRATIVE</a:t>
            </a:r>
            <a:endParaRPr lang="en-US" sz="1500" dirty="0"/>
          </a:p>
          <a:p>
            <a:pPr indent="0" marL="0">
              <a:buNone/>
            </a:pPr>
            <a:r>
              <a:rPr lang="en-US" sz="1100" dirty="0">
                <a:solidFill>
                  <a:schemeClr val="accent6"/>
                </a:solidFill>
                <a:latin typeface="Calibri" pitchFamily="34" charset="0"/>
                <a:ea typeface="Calibri" pitchFamily="34" charset="-122"/>
                <a:cs typeface="Calibri" pitchFamily="34" charset="-120"/>
              </a:rPr>
              <a:t>Claims</a:t>
            </a:r>
            <a:endParaRPr lang="en-US" sz="1500" dirty="0"/>
          </a:p>
        </p:txBody>
      </p:sp>
      <p:sp>
        <p:nvSpPr>
          <p:cNvPr id="24" name="Text 22"/>
          <p:cNvSpPr txBox="1"/>
          <p:nvPr/>
        </p:nvSpPr>
        <p:spPr>
          <a:xfrm>
            <a:off x="8092440" y="4059936"/>
            <a:ext cx="3322015" cy="9875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Timestamped management guidance and call commentary — the gap between what was said and what happened.</a:t>
            </a:r>
            <a:endParaRPr lang="en-US" sz="1300" dirty="0"/>
          </a:p>
        </p:txBody>
      </p:sp>
      <p:sp>
        <p:nvSpPr>
          <p:cNvPr id="25" name="breach2"/>
          <p:cNvSpPr/>
          <p:nvPr/>
        </p:nvSpPr>
        <p:spPr>
          <a:xfrm>
            <a:off x="6400800" y="5212080"/>
            <a:ext cx="5242255" cy="777240"/>
          </a:xfrm>
          <a:prstGeom prst="roundRect">
            <a:avLst>
              <a:gd name="adj" fmla="val 9412"/>
            </a:avLst>
          </a:prstGeom>
          <a:solidFill>
            <a:schemeClr val="accent1"/>
          </a:solidFill>
          <a:ln w="9525">
            <a:solidFill>
              <a:schemeClr val="accent1"/>
            </a:solidFill>
            <a:prstDash val="solid"/>
          </a:ln>
          <a:effectLst>
            <a:outerShdw sx="100000" sy="100000" kx="0" ky="0" algn="bl" rotWithShape="0" blurRad="101600" dist="25400" dir="5400000">
              <a:srgbClr val="0F2E22">
                <a:alpha val="10000"/>
              </a:srgbClr>
            </a:outerShdw>
          </a:effectLst>
        </p:spPr>
      </p:sp>
      <p:sp>
        <p:nvSpPr>
          <p:cNvPr id="26" name="Text 24"/>
          <p:cNvSpPr txBox="1"/>
          <p:nvPr/>
        </p:nvSpPr>
        <p:spPr>
          <a:xfrm>
            <a:off x="6675120" y="5212080"/>
            <a:ext cx="4693615" cy="77724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Persistent breach of all three  →  </a:t>
            </a:r>
            <a:pPr indent="0" marL="0">
              <a:buNone/>
            </a:pPr>
            <a:r>
              <a:rPr lang="en-US" sz="1500" dirty="0">
                <a:solidFill>
                  <a:schemeClr val="bg1"/>
                </a:solidFill>
                <a:latin typeface="Calibri" pitchFamily="34" charset="0"/>
                <a:ea typeface="Calibri" pitchFamily="34" charset="-122"/>
                <a:cs typeface="Calibri" pitchFamily="34" charset="-120"/>
              </a:rPr>
              <a:t>a candidate worth investigating</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From public filings to an auditable discovery in eight stages</a:t>
            </a:r>
            <a:endParaRPr lang="en-US" sz="3200" dirty="0"/>
          </a:p>
        </p:txBody>
      </p:sp>
      <p:sp>
        <p:nvSpPr>
          <p:cNvPr id="3" name="stage0"/>
          <p:cNvSpPr/>
          <p:nvPr/>
        </p:nvSpPr>
        <p:spPr>
          <a:xfrm>
            <a:off x="548640"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 name="Text 2"/>
          <p:cNvSpPr txBox="1"/>
          <p:nvPr/>
        </p:nvSpPr>
        <p:spPr>
          <a:xfrm>
            <a:off x="685800"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685800"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Ingest</a:t>
            </a:r>
            <a:endParaRPr lang="en-US" sz="1500" dirty="0"/>
          </a:p>
        </p:txBody>
      </p:sp>
      <p:sp>
        <p:nvSpPr>
          <p:cNvPr id="6" name="Text 4"/>
          <p:cNvSpPr txBox="1"/>
          <p:nvPr/>
        </p:nvSpPr>
        <p:spPr>
          <a:xfrm>
            <a:off x="685800"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Filings, transcripts, RBI, ratings</a:t>
            </a:r>
            <a:endParaRPr lang="en-US" sz="1150" dirty="0"/>
          </a:p>
        </p:txBody>
      </p:sp>
      <p:sp>
        <p:nvSpPr>
          <p:cNvPr id="7" name="stage1"/>
          <p:cNvSpPr/>
          <p:nvPr/>
        </p:nvSpPr>
        <p:spPr>
          <a:xfrm>
            <a:off x="1947672"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8" name="Text 6"/>
          <p:cNvSpPr txBox="1"/>
          <p:nvPr/>
        </p:nvSpPr>
        <p:spPr>
          <a:xfrm>
            <a:off x="2084832"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2084832"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Normalize</a:t>
            </a:r>
            <a:endParaRPr lang="en-US" sz="1500" dirty="0"/>
          </a:p>
        </p:txBody>
      </p:sp>
      <p:sp>
        <p:nvSpPr>
          <p:cNvPr id="10" name="Text 8"/>
          <p:cNvSpPr txBox="1"/>
          <p:nvPr/>
        </p:nvSpPr>
        <p:spPr>
          <a:xfrm>
            <a:off x="2084832"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Typed facts, reconciled</a:t>
            </a:r>
            <a:endParaRPr lang="en-US" sz="1150" dirty="0"/>
          </a:p>
        </p:txBody>
      </p:sp>
      <p:sp>
        <p:nvSpPr>
          <p:cNvPr id="11" name="stage2"/>
          <p:cNvSpPr/>
          <p:nvPr/>
        </p:nvSpPr>
        <p:spPr>
          <a:xfrm>
            <a:off x="3346704"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2" name="Text 10"/>
          <p:cNvSpPr txBox="1"/>
          <p:nvPr/>
        </p:nvSpPr>
        <p:spPr>
          <a:xfrm>
            <a:off x="3483864"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3483864"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Expect</a:t>
            </a:r>
            <a:endParaRPr lang="en-US" sz="1500" dirty="0"/>
          </a:p>
        </p:txBody>
      </p:sp>
      <p:sp>
        <p:nvSpPr>
          <p:cNvPr id="14" name="Text 12"/>
          <p:cNvSpPr txBox="1"/>
          <p:nvPr/>
        </p:nvSpPr>
        <p:spPr>
          <a:xfrm>
            <a:off x="3483864"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History, peers, claims</a:t>
            </a:r>
            <a:endParaRPr lang="en-US" sz="1150" dirty="0"/>
          </a:p>
        </p:txBody>
      </p:sp>
      <p:sp>
        <p:nvSpPr>
          <p:cNvPr id="15" name="stage3"/>
          <p:cNvSpPr/>
          <p:nvPr/>
        </p:nvSpPr>
        <p:spPr>
          <a:xfrm>
            <a:off x="4745736"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6" name="Text 14"/>
          <p:cNvSpPr txBox="1"/>
          <p:nvPr/>
        </p:nvSpPr>
        <p:spPr>
          <a:xfrm>
            <a:off x="4882896"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4882896"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Breach</a:t>
            </a:r>
            <a:endParaRPr lang="en-US" sz="1500" dirty="0"/>
          </a:p>
        </p:txBody>
      </p:sp>
      <p:sp>
        <p:nvSpPr>
          <p:cNvPr id="18" name="Text 16"/>
          <p:cNvSpPr txBox="1"/>
          <p:nvPr/>
        </p:nvSpPr>
        <p:spPr>
          <a:xfrm>
            <a:off x="4882896"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Persistent surprise</a:t>
            </a:r>
            <a:endParaRPr lang="en-US" sz="1150" dirty="0"/>
          </a:p>
        </p:txBody>
      </p:sp>
      <p:sp>
        <p:nvSpPr>
          <p:cNvPr id="19" name="stage4"/>
          <p:cNvSpPr/>
          <p:nvPr/>
        </p:nvSpPr>
        <p:spPr>
          <a:xfrm>
            <a:off x="6144768"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20" name="Text 18"/>
          <p:cNvSpPr txBox="1"/>
          <p:nvPr/>
        </p:nvSpPr>
        <p:spPr>
          <a:xfrm>
            <a:off x="6281928"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6281928"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Triangulate</a:t>
            </a:r>
            <a:endParaRPr lang="en-US" sz="1500" dirty="0"/>
          </a:p>
        </p:txBody>
      </p:sp>
      <p:sp>
        <p:nvSpPr>
          <p:cNvPr id="22" name="Text 20"/>
          <p:cNvSpPr txBox="1"/>
          <p:nvPr/>
        </p:nvSpPr>
        <p:spPr>
          <a:xfrm>
            <a:off x="6281928"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Independent source families</a:t>
            </a:r>
            <a:endParaRPr lang="en-US" sz="1150" dirty="0"/>
          </a:p>
        </p:txBody>
      </p:sp>
      <p:sp>
        <p:nvSpPr>
          <p:cNvPr id="23" name="stage5"/>
          <p:cNvSpPr/>
          <p:nvPr/>
        </p:nvSpPr>
        <p:spPr>
          <a:xfrm>
            <a:off x="7543800"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24" name="Text 22"/>
          <p:cNvSpPr txBox="1"/>
          <p:nvPr/>
        </p:nvSpPr>
        <p:spPr>
          <a:xfrm>
            <a:off x="7680960"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06</a:t>
            </a:r>
            <a:endParaRPr lang="en-US" sz="1200" dirty="0"/>
          </a:p>
        </p:txBody>
      </p:sp>
      <p:sp>
        <p:nvSpPr>
          <p:cNvPr id="25" name="Text 23"/>
          <p:cNvSpPr txBox="1"/>
          <p:nvPr/>
        </p:nvSpPr>
        <p:spPr>
          <a:xfrm>
            <a:off x="7680960"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Falsify</a:t>
            </a:r>
            <a:endParaRPr lang="en-US" sz="1500" dirty="0"/>
          </a:p>
        </p:txBody>
      </p:sp>
      <p:sp>
        <p:nvSpPr>
          <p:cNvPr id="26" name="Text 24"/>
          <p:cNvSpPr txBox="1"/>
          <p:nvPr/>
        </p:nvSpPr>
        <p:spPr>
          <a:xfrm>
            <a:off x="7680960"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9 tests + corollaries</a:t>
            </a:r>
            <a:endParaRPr lang="en-US" sz="1150" dirty="0"/>
          </a:p>
        </p:txBody>
      </p:sp>
      <p:sp>
        <p:nvSpPr>
          <p:cNvPr id="27" name="stage6"/>
          <p:cNvSpPr/>
          <p:nvPr/>
        </p:nvSpPr>
        <p:spPr>
          <a:xfrm>
            <a:off x="8942832" y="1463040"/>
            <a:ext cx="1307592" cy="1417320"/>
          </a:xfrm>
          <a:prstGeom prst="roundRect">
            <a:avLst>
              <a:gd name="adj" fmla="val 559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28" name="Text 26"/>
          <p:cNvSpPr txBox="1"/>
          <p:nvPr/>
        </p:nvSpPr>
        <p:spPr>
          <a:xfrm>
            <a:off x="9079992" y="1600200"/>
            <a:ext cx="1033272"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07</a:t>
            </a:r>
            <a:endParaRPr lang="en-US" sz="1200" dirty="0"/>
          </a:p>
        </p:txBody>
      </p:sp>
      <p:sp>
        <p:nvSpPr>
          <p:cNvPr id="29" name="Text 27"/>
          <p:cNvSpPr txBox="1"/>
          <p:nvPr/>
        </p:nvSpPr>
        <p:spPr>
          <a:xfrm>
            <a:off x="9079992" y="1874520"/>
            <a:ext cx="1033272"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Rank</a:t>
            </a:r>
            <a:endParaRPr lang="en-US" sz="1500" dirty="0"/>
          </a:p>
        </p:txBody>
      </p:sp>
      <p:sp>
        <p:nvSpPr>
          <p:cNvPr id="30" name="Text 28"/>
          <p:cNvSpPr txBox="1"/>
          <p:nvPr/>
        </p:nvSpPr>
        <p:spPr>
          <a:xfrm>
            <a:off x="9079992" y="2212848"/>
            <a:ext cx="1033272" cy="594360"/>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Gates + strength rule</a:t>
            </a:r>
            <a:endParaRPr lang="en-US" sz="1150" dirty="0"/>
          </a:p>
        </p:txBody>
      </p:sp>
      <p:sp>
        <p:nvSpPr>
          <p:cNvPr id="31" name="stage7"/>
          <p:cNvSpPr/>
          <p:nvPr/>
        </p:nvSpPr>
        <p:spPr>
          <a:xfrm>
            <a:off x="10341864" y="1463040"/>
            <a:ext cx="1307592" cy="1417320"/>
          </a:xfrm>
          <a:prstGeom prst="roundRect">
            <a:avLst>
              <a:gd name="adj" fmla="val 5594"/>
            </a:avLst>
          </a:prstGeom>
          <a:solidFill>
            <a:schemeClr val="tx2"/>
          </a:solidFill>
          <a:ln w="9525">
            <a:solidFill>
              <a:schemeClr val="tx2"/>
            </a:solidFill>
            <a:prstDash val="solid"/>
          </a:ln>
          <a:effectLst>
            <a:outerShdw sx="100000" sy="100000" kx="0" ky="0" algn="bl" rotWithShape="0" blurRad="101600" dist="25400" dir="5400000">
              <a:srgbClr val="0F2E22">
                <a:alpha val="10000"/>
              </a:srgbClr>
            </a:outerShdw>
          </a:effectLst>
        </p:spPr>
      </p:sp>
      <p:sp>
        <p:nvSpPr>
          <p:cNvPr id="32" name="Text 30"/>
          <p:cNvSpPr txBox="1"/>
          <p:nvPr/>
        </p:nvSpPr>
        <p:spPr>
          <a:xfrm>
            <a:off x="10479024" y="1600200"/>
            <a:ext cx="1033272" cy="274320"/>
          </a:xfrm>
          <a:prstGeom prst="rect">
            <a:avLst/>
          </a:prstGeom>
          <a:noFill/>
          <a:ln/>
        </p:spPr>
        <p:txBody>
          <a:bodyPr wrap="square" lIns="0" tIns="0" rIns="0" bIns="0" rtlCol="0" anchor="ctr"/>
          <a:lstStyle/>
          <a:p>
            <a:pPr indent="0" marL="0">
              <a:buNone/>
            </a:pPr>
            <a:r>
              <a:rPr lang="en-US" sz="1200" b="1" dirty="0">
                <a:solidFill>
                  <a:schemeClr val="accent4"/>
                </a:solidFill>
                <a:latin typeface="Calibri" pitchFamily="34" charset="0"/>
                <a:ea typeface="Calibri" pitchFamily="34" charset="-122"/>
                <a:cs typeface="Calibri" pitchFamily="34" charset="-120"/>
              </a:rPr>
              <a:t>08</a:t>
            </a:r>
            <a:endParaRPr lang="en-US" sz="1200" dirty="0"/>
          </a:p>
        </p:txBody>
      </p:sp>
      <p:sp>
        <p:nvSpPr>
          <p:cNvPr id="33" name="Text 31"/>
          <p:cNvSpPr txBox="1"/>
          <p:nvPr/>
        </p:nvSpPr>
        <p:spPr>
          <a:xfrm>
            <a:off x="10479024" y="1874520"/>
            <a:ext cx="1033272" cy="32004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Discover</a:t>
            </a:r>
            <a:endParaRPr lang="en-US" sz="1500" dirty="0"/>
          </a:p>
        </p:txBody>
      </p:sp>
      <p:sp>
        <p:nvSpPr>
          <p:cNvPr id="34" name="Text 32"/>
          <p:cNvSpPr txBox="1"/>
          <p:nvPr/>
        </p:nvSpPr>
        <p:spPr>
          <a:xfrm>
            <a:off x="10479024" y="2212848"/>
            <a:ext cx="1033272" cy="594360"/>
          </a:xfrm>
          <a:prstGeom prst="rect">
            <a:avLst/>
          </a:prstGeom>
          <a:noFill/>
          <a:ln/>
        </p:spPr>
        <p:txBody>
          <a:bodyPr wrap="square" lIns="0" tIns="0" rIns="0" bIns="0" rtlCol="0" anchor="t"/>
          <a:lstStyle/>
          <a:p>
            <a:pPr indent="0" marL="0">
              <a:buNone/>
            </a:pPr>
            <a:r>
              <a:rPr lang="en-US" sz="1150" dirty="0">
                <a:solidFill>
                  <a:srgbClr val="D1FAE5"/>
                </a:solidFill>
                <a:latin typeface="Calibri" pitchFamily="34" charset="0"/>
                <a:ea typeface="Calibri" pitchFamily="34" charset="-122"/>
                <a:cs typeface="Calibri" pitchFamily="34" charset="-120"/>
              </a:rPr>
              <a:t>8 required elements</a:t>
            </a:r>
            <a:endParaRPr lang="en-US" sz="1150" dirty="0"/>
          </a:p>
        </p:txBody>
      </p:sp>
      <p:sp>
        <p:nvSpPr>
          <p:cNvPr id="35" name="Text 33"/>
          <p:cNvSpPr txBox="1"/>
          <p:nvPr/>
        </p:nvSpPr>
        <p:spPr>
          <a:xfrm>
            <a:off x="548640" y="320040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SIX GATES — EVERY ONE MUST PASS</a:t>
            </a:r>
            <a:endParaRPr lang="en-US" sz="1200" dirty="0"/>
          </a:p>
        </p:txBody>
      </p:sp>
      <p:sp>
        <p:nvSpPr>
          <p:cNvPr id="36" name="gate0"/>
          <p:cNvSpPr/>
          <p:nvPr/>
        </p:nvSpPr>
        <p:spPr>
          <a:xfrm>
            <a:off x="548640" y="3566160"/>
            <a:ext cx="1696669" cy="1188720"/>
          </a:xfrm>
          <a:prstGeom prst="roundRect">
            <a:avLst>
              <a:gd name="adj" fmla="val 615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37" name="Text 35"/>
          <p:cNvSpPr txBox="1"/>
          <p:nvPr/>
        </p:nvSpPr>
        <p:spPr>
          <a:xfrm>
            <a:off x="731520" y="3703320"/>
            <a:ext cx="5486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G1</a:t>
            </a:r>
            <a:endParaRPr lang="en-US" sz="1200" dirty="0"/>
          </a:p>
        </p:txBody>
      </p:sp>
      <p:sp>
        <p:nvSpPr>
          <p:cNvPr id="38" name="Text 36"/>
          <p:cNvSpPr txBox="1"/>
          <p:nvPr/>
        </p:nvSpPr>
        <p:spPr>
          <a:xfrm>
            <a:off x="731520" y="3950208"/>
            <a:ext cx="1330909"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Reconciled</a:t>
            </a:r>
            <a:endParaRPr lang="en-US" sz="1500" dirty="0"/>
          </a:p>
        </p:txBody>
      </p:sp>
      <p:sp>
        <p:nvSpPr>
          <p:cNvPr id="39" name="Text 37"/>
          <p:cNvSpPr txBox="1"/>
          <p:nvPr/>
        </p:nvSpPr>
        <p:spPr>
          <a:xfrm>
            <a:off x="731520" y="4270248"/>
            <a:ext cx="1330909"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Numbers satisfy accounting identities</a:t>
            </a:r>
            <a:endParaRPr lang="en-US" sz="1150" dirty="0"/>
          </a:p>
        </p:txBody>
      </p:sp>
      <p:sp>
        <p:nvSpPr>
          <p:cNvPr id="40" name="gate1"/>
          <p:cNvSpPr/>
          <p:nvPr/>
        </p:nvSpPr>
        <p:spPr>
          <a:xfrm>
            <a:off x="2428189" y="3566160"/>
            <a:ext cx="1696669" cy="1188720"/>
          </a:xfrm>
          <a:prstGeom prst="roundRect">
            <a:avLst>
              <a:gd name="adj" fmla="val 615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1" name="Text 39"/>
          <p:cNvSpPr txBox="1"/>
          <p:nvPr/>
        </p:nvSpPr>
        <p:spPr>
          <a:xfrm>
            <a:off x="2611069" y="3703320"/>
            <a:ext cx="5486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G2</a:t>
            </a:r>
            <a:endParaRPr lang="en-US" sz="1200" dirty="0"/>
          </a:p>
        </p:txBody>
      </p:sp>
      <p:sp>
        <p:nvSpPr>
          <p:cNvPr id="42" name="Text 40"/>
          <p:cNvSpPr txBox="1"/>
          <p:nvPr/>
        </p:nvSpPr>
        <p:spPr>
          <a:xfrm>
            <a:off x="2611069" y="3950208"/>
            <a:ext cx="1330909"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Corroborated</a:t>
            </a:r>
            <a:endParaRPr lang="en-US" sz="1500" dirty="0"/>
          </a:p>
        </p:txBody>
      </p:sp>
      <p:sp>
        <p:nvSpPr>
          <p:cNvPr id="43" name="Text 41"/>
          <p:cNvSpPr txBox="1"/>
          <p:nvPr/>
        </p:nvSpPr>
        <p:spPr>
          <a:xfrm>
            <a:off x="2611069" y="4270248"/>
            <a:ext cx="1330909"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≥2 independent source families</a:t>
            </a:r>
            <a:endParaRPr lang="en-US" sz="1150" dirty="0"/>
          </a:p>
        </p:txBody>
      </p:sp>
      <p:sp>
        <p:nvSpPr>
          <p:cNvPr id="44" name="gate2"/>
          <p:cNvSpPr/>
          <p:nvPr/>
        </p:nvSpPr>
        <p:spPr>
          <a:xfrm>
            <a:off x="4307738" y="3566160"/>
            <a:ext cx="1696669" cy="1188720"/>
          </a:xfrm>
          <a:prstGeom prst="roundRect">
            <a:avLst>
              <a:gd name="adj" fmla="val 615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5" name="Text 43"/>
          <p:cNvSpPr txBox="1"/>
          <p:nvPr/>
        </p:nvSpPr>
        <p:spPr>
          <a:xfrm>
            <a:off x="4490618" y="3703320"/>
            <a:ext cx="5486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G3</a:t>
            </a:r>
            <a:endParaRPr lang="en-US" sz="1200" dirty="0"/>
          </a:p>
        </p:txBody>
      </p:sp>
      <p:sp>
        <p:nvSpPr>
          <p:cNvPr id="46" name="Text 44"/>
          <p:cNvSpPr txBox="1"/>
          <p:nvPr/>
        </p:nvSpPr>
        <p:spPr>
          <a:xfrm>
            <a:off x="4490618" y="3950208"/>
            <a:ext cx="1330909"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Specific</a:t>
            </a:r>
            <a:endParaRPr lang="en-US" sz="1500" dirty="0"/>
          </a:p>
        </p:txBody>
      </p:sp>
      <p:sp>
        <p:nvSpPr>
          <p:cNvPr id="47" name="Text 45"/>
          <p:cNvSpPr txBox="1"/>
          <p:nvPr/>
        </p:nvSpPr>
        <p:spPr>
          <a:xfrm>
            <a:off x="4490618" y="4270248"/>
            <a:ext cx="1330909"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Not explained by peers</a:t>
            </a:r>
            <a:endParaRPr lang="en-US" sz="1150" dirty="0"/>
          </a:p>
        </p:txBody>
      </p:sp>
      <p:sp>
        <p:nvSpPr>
          <p:cNvPr id="48" name="gate3"/>
          <p:cNvSpPr/>
          <p:nvPr/>
        </p:nvSpPr>
        <p:spPr>
          <a:xfrm>
            <a:off x="6187288" y="3566160"/>
            <a:ext cx="1696669" cy="1188720"/>
          </a:xfrm>
          <a:prstGeom prst="roundRect">
            <a:avLst>
              <a:gd name="adj" fmla="val 615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9" name="Text 47"/>
          <p:cNvSpPr txBox="1"/>
          <p:nvPr/>
        </p:nvSpPr>
        <p:spPr>
          <a:xfrm>
            <a:off x="6370168" y="3703320"/>
            <a:ext cx="5486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G4</a:t>
            </a:r>
            <a:endParaRPr lang="en-US" sz="1200" dirty="0"/>
          </a:p>
        </p:txBody>
      </p:sp>
      <p:sp>
        <p:nvSpPr>
          <p:cNvPr id="50" name="Text 48"/>
          <p:cNvSpPr txBox="1"/>
          <p:nvPr/>
        </p:nvSpPr>
        <p:spPr>
          <a:xfrm>
            <a:off x="6370168" y="3950208"/>
            <a:ext cx="1330909"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Survives tests</a:t>
            </a:r>
            <a:endParaRPr lang="en-US" sz="1500" dirty="0"/>
          </a:p>
        </p:txBody>
      </p:sp>
      <p:sp>
        <p:nvSpPr>
          <p:cNvPr id="51" name="Text 49"/>
          <p:cNvSpPr txBox="1"/>
          <p:nvPr/>
        </p:nvSpPr>
        <p:spPr>
          <a:xfrm>
            <a:off x="6370168" y="4270248"/>
            <a:ext cx="1330909"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9 alternative explanations</a:t>
            </a:r>
            <a:endParaRPr lang="en-US" sz="1150" dirty="0"/>
          </a:p>
        </p:txBody>
      </p:sp>
      <p:sp>
        <p:nvSpPr>
          <p:cNvPr id="52" name="gate4"/>
          <p:cNvSpPr/>
          <p:nvPr/>
        </p:nvSpPr>
        <p:spPr>
          <a:xfrm>
            <a:off x="8066837" y="3566160"/>
            <a:ext cx="1696669" cy="1188720"/>
          </a:xfrm>
          <a:prstGeom prst="roundRect">
            <a:avLst>
              <a:gd name="adj" fmla="val 615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53" name="Text 51"/>
          <p:cNvSpPr txBox="1"/>
          <p:nvPr/>
        </p:nvSpPr>
        <p:spPr>
          <a:xfrm>
            <a:off x="8249717" y="3703320"/>
            <a:ext cx="5486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G5</a:t>
            </a:r>
            <a:endParaRPr lang="en-US" sz="1200" dirty="0"/>
          </a:p>
        </p:txBody>
      </p:sp>
      <p:sp>
        <p:nvSpPr>
          <p:cNvPr id="54" name="Text 52"/>
          <p:cNvSpPr txBox="1"/>
          <p:nvPr/>
        </p:nvSpPr>
        <p:spPr>
          <a:xfrm>
            <a:off x="8249717" y="3950208"/>
            <a:ext cx="1330909"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Predicts</a:t>
            </a:r>
            <a:endParaRPr lang="en-US" sz="1500" dirty="0"/>
          </a:p>
        </p:txBody>
      </p:sp>
      <p:sp>
        <p:nvSpPr>
          <p:cNvPr id="55" name="Text 53"/>
          <p:cNvSpPr txBox="1"/>
          <p:nvPr/>
        </p:nvSpPr>
        <p:spPr>
          <a:xfrm>
            <a:off x="8249717" y="4270248"/>
            <a:ext cx="1330909"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A consequence it wasn't built from</a:t>
            </a:r>
            <a:endParaRPr lang="en-US" sz="1150" dirty="0"/>
          </a:p>
        </p:txBody>
      </p:sp>
      <p:sp>
        <p:nvSpPr>
          <p:cNvPr id="56" name="gate5"/>
          <p:cNvSpPr/>
          <p:nvPr/>
        </p:nvSpPr>
        <p:spPr>
          <a:xfrm>
            <a:off x="9946386" y="3566160"/>
            <a:ext cx="1696669" cy="1188720"/>
          </a:xfrm>
          <a:prstGeom prst="roundRect">
            <a:avLst>
              <a:gd name="adj" fmla="val 6154"/>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57" name="Text 55"/>
          <p:cNvSpPr txBox="1"/>
          <p:nvPr/>
        </p:nvSpPr>
        <p:spPr>
          <a:xfrm>
            <a:off x="10129266" y="3703320"/>
            <a:ext cx="5486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G6</a:t>
            </a:r>
            <a:endParaRPr lang="en-US" sz="1200" dirty="0"/>
          </a:p>
        </p:txBody>
      </p:sp>
      <p:sp>
        <p:nvSpPr>
          <p:cNvPr id="58" name="Text 56"/>
          <p:cNvSpPr txBox="1"/>
          <p:nvPr/>
        </p:nvSpPr>
        <p:spPr>
          <a:xfrm>
            <a:off x="10129266" y="3950208"/>
            <a:ext cx="1330909"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Persistent</a:t>
            </a:r>
            <a:endParaRPr lang="en-US" sz="1500" dirty="0"/>
          </a:p>
        </p:txBody>
      </p:sp>
      <p:sp>
        <p:nvSpPr>
          <p:cNvPr id="59" name="Text 57"/>
          <p:cNvSpPr txBox="1"/>
          <p:nvPr/>
        </p:nvSpPr>
        <p:spPr>
          <a:xfrm>
            <a:off x="10129266" y="4270248"/>
            <a:ext cx="1330909" cy="43891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Holds across time windows</a:t>
            </a:r>
            <a:endParaRPr lang="en-US" sz="1150" dirty="0"/>
          </a:p>
        </p:txBody>
      </p:sp>
      <p:sp>
        <p:nvSpPr>
          <p:cNvPr id="60" name="code"/>
          <p:cNvSpPr/>
          <p:nvPr/>
        </p:nvSpPr>
        <p:spPr>
          <a:xfrm>
            <a:off x="548640" y="5029200"/>
            <a:ext cx="5410048" cy="1051560"/>
          </a:xfrm>
          <a:prstGeom prst="roundRect">
            <a:avLst>
              <a:gd name="adj" fmla="val 6957"/>
            </a:avLst>
          </a:prstGeom>
          <a:solidFill>
            <a:schemeClr val="tx2"/>
          </a:solidFill>
          <a:ln w="9525">
            <a:solidFill>
              <a:schemeClr val="tx2"/>
            </a:solidFill>
            <a:prstDash val="solid"/>
          </a:ln>
          <a:effectLst>
            <a:outerShdw sx="100000" sy="100000" kx="0" ky="0" algn="bl" rotWithShape="0" blurRad="101600" dist="25400" dir="5400000">
              <a:srgbClr val="0F2E22">
                <a:alpha val="10000"/>
              </a:srgbClr>
            </a:outerShdw>
          </a:effectLst>
        </p:spPr>
      </p:sp>
      <p:sp>
        <p:nvSpPr>
          <p:cNvPr id="61" name="Text 59"/>
          <p:cNvSpPr txBox="1"/>
          <p:nvPr/>
        </p:nvSpPr>
        <p:spPr>
          <a:xfrm>
            <a:off x="822960" y="5029200"/>
            <a:ext cx="4861408" cy="105156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Code decides</a:t>
            </a:r>
            <a:endParaRPr lang="en-US" sz="1400" dirty="0"/>
          </a:p>
          <a:p>
            <a:pPr indent="0" marL="0">
              <a:buNone/>
            </a:pPr>
            <a:r>
              <a:rPr lang="en-US" sz="1400" dirty="0">
                <a:solidFill>
                  <a:srgbClr val="D1FAE5"/>
                </a:solidFill>
                <a:latin typeface="Calibri" pitchFamily="34" charset="0"/>
                <a:ea typeface="Calibri" pitchFamily="34" charset="-122"/>
                <a:cs typeface="Calibri" pitchFamily="34" charset="-120"/>
              </a:rPr>
              <a:t>Checks, statistics, tests and every single number.</a:t>
            </a:r>
            <a:endParaRPr lang="en-US" sz="1400" dirty="0"/>
          </a:p>
        </p:txBody>
      </p:sp>
      <p:sp>
        <p:nvSpPr>
          <p:cNvPr id="62" name="llm"/>
          <p:cNvSpPr/>
          <p:nvPr/>
        </p:nvSpPr>
        <p:spPr>
          <a:xfrm>
            <a:off x="6233008" y="5029200"/>
            <a:ext cx="5410048" cy="1051560"/>
          </a:xfrm>
          <a:prstGeom prst="roundRect">
            <a:avLst>
              <a:gd name="adj" fmla="val 695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63" name="Text 61"/>
          <p:cNvSpPr txBox="1"/>
          <p:nvPr/>
        </p:nvSpPr>
        <p:spPr>
          <a:xfrm>
            <a:off x="6507328" y="5029200"/>
            <a:ext cx="4861408" cy="10515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The LLM reads and writes</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Extracts claims, articulates mechanisms, writes digit-free prose.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143 candidates in, one discovery out — nothing hand-picked</a:t>
            </a:r>
            <a:endParaRPr lang="en-US" sz="3200" dirty="0"/>
          </a:p>
        </p:txBody>
      </p:sp>
      <p:sp>
        <p:nvSpPr>
          <p:cNvPr id="3" name="funnelCard"/>
          <p:cNvSpPr/>
          <p:nvPr/>
        </p:nvSpPr>
        <p:spPr>
          <a:xfrm>
            <a:off x="548640" y="1417320"/>
            <a:ext cx="5212080" cy="4663440"/>
          </a:xfrm>
          <a:prstGeom prst="roundRect">
            <a:avLst>
              <a:gd name="adj" fmla="val 1569"/>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 name="Text 2"/>
          <p:cNvSpPr txBox="1"/>
          <p:nvPr/>
        </p:nvSpPr>
        <p:spPr>
          <a:xfrm>
            <a:off x="868680" y="1600200"/>
            <a:ext cx="3657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DISCOVERY FUNNEL</a:t>
            </a:r>
            <a:endParaRPr lang="en-US" sz="1200" dirty="0"/>
          </a:p>
        </p:txBody>
      </p:sp>
      <p:graphicFrame>
        <p:nvGraphicFramePr>
          <p:cNvPr id="5" name="Chart 0" descr=""/>
          <p:cNvGraphicFramePr/>
          <p:nvPr/>
        </p:nvGraphicFramePr>
        <p:xfrm>
          <a:off x="731520" y="1920240"/>
          <a:ext cx="484632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68680" y="5669280"/>
            <a:ext cx="4572000" cy="274320"/>
          </a:xfrm>
          <a:prstGeom prst="rect">
            <a:avLst/>
          </a:prstGeom>
          <a:noFill/>
          <a:ln/>
        </p:spPr>
        <p:txBody>
          <a:bodyPr wrap="square" lIns="0" tIns="0" rIns="0" bIns="0" rtlCol="0" anchor="ctr"/>
          <a:lstStyle/>
          <a:p>
            <a:pPr indent="0" marL="0">
              <a:buNone/>
            </a:pPr>
            <a:r>
              <a:rPr lang="en-US" sz="1000" i="1" dirty="0">
                <a:solidFill>
                  <a:schemeClr val="accent6"/>
                </a:solidFill>
                <a:latin typeface="Calibri" pitchFamily="34" charset="0"/>
                <a:ea typeface="Calibri" pitchFamily="34" charset="-122"/>
                <a:cs typeface="Calibri" pitchFamily="34" charset="-120"/>
              </a:rPr>
              <a:t>Illustrative counts from the prototype run</a:t>
            </a:r>
            <a:endParaRPr lang="en-US" sz="1000" dirty="0"/>
          </a:p>
        </p:txBody>
      </p:sp>
      <p:sp>
        <p:nvSpPr>
          <p:cNvPr id="7" name="aeCard"/>
          <p:cNvSpPr/>
          <p:nvPr/>
        </p:nvSpPr>
        <p:spPr>
          <a:xfrm>
            <a:off x="6035040" y="1417320"/>
            <a:ext cx="5608015" cy="4663440"/>
          </a:xfrm>
          <a:prstGeom prst="roundRect">
            <a:avLst>
              <a:gd name="adj" fmla="val 1569"/>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8" name="Text 5"/>
          <p:cNvSpPr txBox="1"/>
          <p:nvPr/>
        </p:nvSpPr>
        <p:spPr>
          <a:xfrm>
            <a:off x="6355080" y="1600200"/>
            <a:ext cx="4967935"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TRY TO BREAK IT — 9 PRE-REGISTERED TESTS</a:t>
            </a:r>
            <a:endParaRPr lang="en-US" sz="1200" dirty="0"/>
          </a:p>
        </p:txBody>
      </p:sp>
      <p:sp>
        <p:nvSpPr>
          <p:cNvPr id="9" name="aeRow0"/>
          <p:cNvSpPr/>
          <p:nvPr/>
        </p:nvSpPr>
        <p:spPr>
          <a:xfrm>
            <a:off x="6217920" y="1965960"/>
            <a:ext cx="5242255" cy="393192"/>
          </a:xfrm>
          <a:prstGeom prst="rect">
            <a:avLst/>
          </a:prstGeom>
          <a:solidFill>
            <a:schemeClr val="bg2"/>
          </a:solidFill>
          <a:ln w="12700">
            <a:solidFill>
              <a:schemeClr val="bg2"/>
            </a:solidFill>
            <a:prstDash val="solid"/>
          </a:ln>
        </p:spPr>
      </p:sp>
      <p:sp>
        <p:nvSpPr>
          <p:cNvPr id="10" name="Text 7"/>
          <p:cNvSpPr txBox="1"/>
          <p:nvPr/>
        </p:nvSpPr>
        <p:spPr>
          <a:xfrm>
            <a:off x="6355080" y="1965960"/>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AE1</a:t>
            </a:r>
            <a:endParaRPr lang="en-US" sz="1100" dirty="0"/>
          </a:p>
        </p:txBody>
      </p:sp>
      <p:sp>
        <p:nvSpPr>
          <p:cNvPr id="11" name="Text 8"/>
          <p:cNvSpPr txBox="1"/>
          <p:nvPr/>
        </p:nvSpPr>
        <p:spPr>
          <a:xfrm>
            <a:off x="6903720" y="1965960"/>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Sector-wide effect</a:t>
            </a:r>
            <a:endParaRPr lang="en-US" sz="1400" dirty="0"/>
          </a:p>
        </p:txBody>
      </p:sp>
      <p:sp>
        <p:nvSpPr>
          <p:cNvPr id="12" name="Text 9"/>
          <p:cNvSpPr txBox="1"/>
          <p:nvPr/>
        </p:nvSpPr>
        <p:spPr>
          <a:xfrm>
            <a:off x="9098280" y="1965960"/>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company vs same-quarter peers</a:t>
            </a:r>
            <a:endParaRPr lang="en-US" sz="1300" dirty="0"/>
          </a:p>
        </p:txBody>
      </p:sp>
      <p:sp>
        <p:nvSpPr>
          <p:cNvPr id="13" name="Text 10"/>
          <p:cNvSpPr txBox="1"/>
          <p:nvPr/>
        </p:nvSpPr>
        <p:spPr>
          <a:xfrm>
            <a:off x="6355080" y="2359152"/>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AE2</a:t>
            </a:r>
            <a:endParaRPr lang="en-US" sz="1100" dirty="0"/>
          </a:p>
        </p:txBody>
      </p:sp>
      <p:sp>
        <p:nvSpPr>
          <p:cNvPr id="14" name="Text 11"/>
          <p:cNvSpPr txBox="1"/>
          <p:nvPr/>
        </p:nvSpPr>
        <p:spPr>
          <a:xfrm>
            <a:off x="6903720" y="2359152"/>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Regulatory / macro</a:t>
            </a:r>
            <a:endParaRPr lang="en-US" sz="1400" dirty="0"/>
          </a:p>
        </p:txBody>
      </p:sp>
      <p:sp>
        <p:nvSpPr>
          <p:cNvPr id="15" name="Text 12"/>
          <p:cNvSpPr txBox="1"/>
          <p:nvPr/>
        </p:nvSpPr>
        <p:spPr>
          <a:xfrm>
            <a:off x="9098280" y="2359152"/>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difference around dated events</a:t>
            </a:r>
            <a:endParaRPr lang="en-US" sz="1300" dirty="0"/>
          </a:p>
        </p:txBody>
      </p:sp>
      <p:sp>
        <p:nvSpPr>
          <p:cNvPr id="16" name="aeRow2"/>
          <p:cNvSpPr/>
          <p:nvPr/>
        </p:nvSpPr>
        <p:spPr>
          <a:xfrm>
            <a:off x="6217920" y="2752344"/>
            <a:ext cx="5242255" cy="393192"/>
          </a:xfrm>
          <a:prstGeom prst="rect">
            <a:avLst/>
          </a:prstGeom>
          <a:solidFill>
            <a:schemeClr val="bg2"/>
          </a:solidFill>
          <a:ln w="12700">
            <a:solidFill>
              <a:schemeClr val="bg2"/>
            </a:solidFill>
            <a:prstDash val="solid"/>
          </a:ln>
        </p:spPr>
      </p:sp>
      <p:sp>
        <p:nvSpPr>
          <p:cNvPr id="17" name="Text 14"/>
          <p:cNvSpPr txBox="1"/>
          <p:nvPr/>
        </p:nvSpPr>
        <p:spPr>
          <a:xfrm>
            <a:off x="6355080" y="2752344"/>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AE3</a:t>
            </a:r>
            <a:endParaRPr lang="en-US" sz="1100" dirty="0"/>
          </a:p>
        </p:txBody>
      </p:sp>
      <p:sp>
        <p:nvSpPr>
          <p:cNvPr id="18" name="Text 15"/>
          <p:cNvSpPr txBox="1"/>
          <p:nvPr/>
        </p:nvSpPr>
        <p:spPr>
          <a:xfrm>
            <a:off x="6903720" y="2752344"/>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Accounting artefact</a:t>
            </a:r>
            <a:endParaRPr lang="en-US" sz="1400" dirty="0"/>
          </a:p>
        </p:txBody>
      </p:sp>
      <p:sp>
        <p:nvSpPr>
          <p:cNvPr id="19" name="Text 16"/>
          <p:cNvSpPr txBox="1"/>
          <p:nvPr/>
        </p:nvSpPr>
        <p:spPr>
          <a:xfrm>
            <a:off x="9098280" y="2752344"/>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policy, merger, restatement</a:t>
            </a:r>
            <a:endParaRPr lang="en-US" sz="1300" dirty="0"/>
          </a:p>
        </p:txBody>
      </p:sp>
      <p:sp>
        <p:nvSpPr>
          <p:cNvPr id="20" name="Text 17"/>
          <p:cNvSpPr txBox="1"/>
          <p:nvPr/>
        </p:nvSpPr>
        <p:spPr>
          <a:xfrm>
            <a:off x="6355080" y="3145536"/>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AE4</a:t>
            </a:r>
            <a:endParaRPr lang="en-US" sz="1100" dirty="0"/>
          </a:p>
        </p:txBody>
      </p:sp>
      <p:sp>
        <p:nvSpPr>
          <p:cNvPr id="21" name="Text 18"/>
          <p:cNvSpPr txBox="1"/>
          <p:nvPr/>
        </p:nvSpPr>
        <p:spPr>
          <a:xfrm>
            <a:off x="6903720" y="3145536"/>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Denominator effect</a:t>
            </a:r>
            <a:endParaRPr lang="en-US" sz="1400" dirty="0"/>
          </a:p>
        </p:txBody>
      </p:sp>
      <p:sp>
        <p:nvSpPr>
          <p:cNvPr id="22" name="Text 19"/>
          <p:cNvSpPr txBox="1"/>
          <p:nvPr/>
        </p:nvSpPr>
        <p:spPr>
          <a:xfrm>
            <a:off x="9098280" y="3145536"/>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lagged ratios</a:t>
            </a:r>
            <a:endParaRPr lang="en-US" sz="1300" dirty="0"/>
          </a:p>
        </p:txBody>
      </p:sp>
      <p:sp>
        <p:nvSpPr>
          <p:cNvPr id="23" name="aeRow4"/>
          <p:cNvSpPr/>
          <p:nvPr/>
        </p:nvSpPr>
        <p:spPr>
          <a:xfrm>
            <a:off x="6217920" y="3538728"/>
            <a:ext cx="5242255" cy="393192"/>
          </a:xfrm>
          <a:prstGeom prst="rect">
            <a:avLst/>
          </a:prstGeom>
          <a:solidFill>
            <a:schemeClr val="bg2"/>
          </a:solidFill>
          <a:ln w="12700">
            <a:solidFill>
              <a:schemeClr val="bg2"/>
            </a:solidFill>
            <a:prstDash val="solid"/>
          </a:ln>
        </p:spPr>
      </p:sp>
      <p:sp>
        <p:nvSpPr>
          <p:cNvPr id="24" name="Text 21"/>
          <p:cNvSpPr txBox="1"/>
          <p:nvPr/>
        </p:nvSpPr>
        <p:spPr>
          <a:xfrm>
            <a:off x="6355080" y="3538728"/>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AE5</a:t>
            </a:r>
            <a:endParaRPr lang="en-US" sz="1100" dirty="0"/>
          </a:p>
        </p:txBody>
      </p:sp>
      <p:sp>
        <p:nvSpPr>
          <p:cNvPr id="25" name="Text 22"/>
          <p:cNvSpPr txBox="1"/>
          <p:nvPr/>
        </p:nvSpPr>
        <p:spPr>
          <a:xfrm>
            <a:off x="6903720" y="3538728"/>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One-off / window</a:t>
            </a:r>
            <a:endParaRPr lang="en-US" sz="1400" dirty="0"/>
          </a:p>
        </p:txBody>
      </p:sp>
      <p:sp>
        <p:nvSpPr>
          <p:cNvPr id="26" name="Text 23"/>
          <p:cNvSpPr txBox="1"/>
          <p:nvPr/>
        </p:nvSpPr>
        <p:spPr>
          <a:xfrm>
            <a:off x="9098280" y="3538728"/>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specification curve</a:t>
            </a:r>
            <a:endParaRPr lang="en-US" sz="1300" dirty="0"/>
          </a:p>
        </p:txBody>
      </p:sp>
      <p:sp>
        <p:nvSpPr>
          <p:cNvPr id="27" name="Text 24"/>
          <p:cNvSpPr txBox="1"/>
          <p:nvPr/>
        </p:nvSpPr>
        <p:spPr>
          <a:xfrm>
            <a:off x="6355080" y="3931920"/>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AE6</a:t>
            </a:r>
            <a:endParaRPr lang="en-US" sz="1100" dirty="0"/>
          </a:p>
        </p:txBody>
      </p:sp>
      <p:sp>
        <p:nvSpPr>
          <p:cNvPr id="28" name="Text 25"/>
          <p:cNvSpPr txBox="1"/>
          <p:nvPr/>
        </p:nvSpPr>
        <p:spPr>
          <a:xfrm>
            <a:off x="6903720" y="3931920"/>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Already disclosed</a:t>
            </a:r>
            <a:endParaRPr lang="en-US" sz="1400" dirty="0"/>
          </a:p>
        </p:txBody>
      </p:sp>
      <p:sp>
        <p:nvSpPr>
          <p:cNvPr id="29" name="Text 26"/>
          <p:cNvSpPr txBox="1"/>
          <p:nvPr/>
        </p:nvSpPr>
        <p:spPr>
          <a:xfrm>
            <a:off x="9098280" y="3931920"/>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claims + press coverage</a:t>
            </a:r>
            <a:endParaRPr lang="en-US" sz="1300" dirty="0"/>
          </a:p>
        </p:txBody>
      </p:sp>
      <p:sp>
        <p:nvSpPr>
          <p:cNvPr id="30" name="aeRow6"/>
          <p:cNvSpPr/>
          <p:nvPr/>
        </p:nvSpPr>
        <p:spPr>
          <a:xfrm>
            <a:off x="6217920" y="4325112"/>
            <a:ext cx="5242255" cy="393192"/>
          </a:xfrm>
          <a:prstGeom prst="rect">
            <a:avLst/>
          </a:prstGeom>
          <a:solidFill>
            <a:schemeClr val="bg2"/>
          </a:solidFill>
          <a:ln w="12700">
            <a:solidFill>
              <a:schemeClr val="bg2"/>
            </a:solidFill>
            <a:prstDash val="solid"/>
          </a:ln>
        </p:spPr>
      </p:sp>
      <p:sp>
        <p:nvSpPr>
          <p:cNvPr id="31" name="Text 28"/>
          <p:cNvSpPr txBox="1"/>
          <p:nvPr/>
        </p:nvSpPr>
        <p:spPr>
          <a:xfrm>
            <a:off x="6355080" y="4325112"/>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AE7</a:t>
            </a:r>
            <a:endParaRPr lang="en-US" sz="1100" dirty="0"/>
          </a:p>
        </p:txBody>
      </p:sp>
      <p:sp>
        <p:nvSpPr>
          <p:cNvPr id="32" name="Text 29"/>
          <p:cNvSpPr txBox="1"/>
          <p:nvPr/>
        </p:nvSpPr>
        <p:spPr>
          <a:xfrm>
            <a:off x="6903720" y="4325112"/>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Data error</a:t>
            </a:r>
            <a:endParaRPr lang="en-US" sz="1400" dirty="0"/>
          </a:p>
        </p:txBody>
      </p:sp>
      <p:sp>
        <p:nvSpPr>
          <p:cNvPr id="33" name="Text 30"/>
          <p:cNvSpPr txBox="1"/>
          <p:nvPr/>
        </p:nvSpPr>
        <p:spPr>
          <a:xfrm>
            <a:off x="9098280" y="4325112"/>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second-document check</a:t>
            </a:r>
            <a:endParaRPr lang="en-US" sz="1300" dirty="0"/>
          </a:p>
        </p:txBody>
      </p:sp>
      <p:sp>
        <p:nvSpPr>
          <p:cNvPr id="34" name="Text 31"/>
          <p:cNvSpPr txBox="1"/>
          <p:nvPr/>
        </p:nvSpPr>
        <p:spPr>
          <a:xfrm>
            <a:off x="6355080" y="4718304"/>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AE8</a:t>
            </a:r>
            <a:endParaRPr lang="en-US" sz="1100" dirty="0"/>
          </a:p>
        </p:txBody>
      </p:sp>
      <p:sp>
        <p:nvSpPr>
          <p:cNvPr id="35" name="Text 32"/>
          <p:cNvSpPr txBox="1"/>
          <p:nvPr/>
        </p:nvSpPr>
        <p:spPr>
          <a:xfrm>
            <a:off x="6903720" y="4718304"/>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Other mechanism</a:t>
            </a:r>
            <a:endParaRPr lang="en-US" sz="1400" dirty="0"/>
          </a:p>
        </p:txBody>
      </p:sp>
      <p:sp>
        <p:nvSpPr>
          <p:cNvPr id="36" name="Text 33"/>
          <p:cNvSpPr txBox="1"/>
          <p:nvPr/>
        </p:nvSpPr>
        <p:spPr>
          <a:xfrm>
            <a:off x="9098280" y="4718304"/>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predictions on unused data</a:t>
            </a:r>
            <a:endParaRPr lang="en-US" sz="1300" dirty="0"/>
          </a:p>
        </p:txBody>
      </p:sp>
      <p:sp>
        <p:nvSpPr>
          <p:cNvPr id="37" name="aeRow8"/>
          <p:cNvSpPr/>
          <p:nvPr/>
        </p:nvSpPr>
        <p:spPr>
          <a:xfrm>
            <a:off x="6217920" y="5111496"/>
            <a:ext cx="5242255" cy="393192"/>
          </a:xfrm>
          <a:prstGeom prst="rect">
            <a:avLst/>
          </a:prstGeom>
          <a:solidFill>
            <a:schemeClr val="bg2"/>
          </a:solidFill>
          <a:ln w="12700">
            <a:solidFill>
              <a:schemeClr val="bg2"/>
            </a:solidFill>
            <a:prstDash val="solid"/>
          </a:ln>
        </p:spPr>
      </p:sp>
      <p:sp>
        <p:nvSpPr>
          <p:cNvPr id="38" name="Text 35"/>
          <p:cNvSpPr txBox="1"/>
          <p:nvPr/>
        </p:nvSpPr>
        <p:spPr>
          <a:xfrm>
            <a:off x="6355080" y="5111496"/>
            <a:ext cx="548640" cy="393192"/>
          </a:xfrm>
          <a:prstGeom prst="rect">
            <a:avLst/>
          </a:prstGeom>
          <a:noFill/>
          <a:ln/>
        </p:spPr>
        <p:txBody>
          <a:bodyPr wrap="square" lIns="0" tIns="0" rIns="0" bIns="0" rtlCol="0" anchor="ctr"/>
          <a:lstStyle/>
          <a:p>
            <a:pPr indent="0" marL="0">
              <a:buNone/>
            </a:pPr>
            <a:r>
              <a:rPr lang="en-US" sz="1100" b="1" dirty="0">
                <a:solidFill>
                  <a:schemeClr val="accent2"/>
                </a:solidFill>
                <a:latin typeface="Calibri" pitchFamily="34" charset="0"/>
                <a:ea typeface="Calibri" pitchFamily="34" charset="-122"/>
                <a:cs typeface="Calibri" pitchFamily="34" charset="-120"/>
              </a:rPr>
              <a:t>AE9</a:t>
            </a:r>
            <a:endParaRPr lang="en-US" sz="1100" dirty="0"/>
          </a:p>
        </p:txBody>
      </p:sp>
      <p:sp>
        <p:nvSpPr>
          <p:cNvPr id="39" name="Text 36"/>
          <p:cNvSpPr txBox="1"/>
          <p:nvPr/>
        </p:nvSpPr>
        <p:spPr>
          <a:xfrm>
            <a:off x="6903720" y="5111496"/>
            <a:ext cx="2194560" cy="39319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Counter-evidence</a:t>
            </a:r>
            <a:endParaRPr lang="en-US" sz="1400" dirty="0"/>
          </a:p>
        </p:txBody>
      </p:sp>
      <p:sp>
        <p:nvSpPr>
          <p:cNvPr id="40" name="Text 37"/>
          <p:cNvSpPr txBox="1"/>
          <p:nvPr/>
        </p:nvSpPr>
        <p:spPr>
          <a:xfrm>
            <a:off x="9098280" y="5111496"/>
            <a:ext cx="2316175" cy="3931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bounded independent search</a:t>
            </a:r>
            <a:endParaRPr lang="en-US" sz="1300" dirty="0"/>
          </a:p>
        </p:txBody>
      </p:sp>
      <p:sp>
        <p:nvSpPr>
          <p:cNvPr id="41" name="Text 38"/>
          <p:cNvSpPr txBox="1"/>
          <p:nvPr/>
        </p:nvSpPr>
        <p:spPr>
          <a:xfrm>
            <a:off x="6355080" y="5577840"/>
            <a:ext cx="4967935" cy="4114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The strongest surviving alternative becomes the counterargument. </a:t>
            </a:r>
            <a:pPr indent="0" marL="0">
              <a:buNone/>
            </a:pPr>
            <a:r>
              <a:rPr lang="en-US" sz="1200" b="1" dirty="0">
                <a:solidFill>
                  <a:schemeClr val="tx1"/>
                </a:solidFill>
                <a:latin typeface="Calibri" pitchFamily="34" charset="0"/>
                <a:ea typeface="Calibri" pitchFamily="34" charset="-122"/>
                <a:cs typeface="Calibri" pitchFamily="34" charset="-120"/>
              </a:rPr>
              <a:t>Strength is a deterministic rule, not an LLM opinion.</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output: a discovery where every number is traceable</a:t>
            </a:r>
            <a:endParaRPr lang="en-US" sz="3200" dirty="0"/>
          </a:p>
        </p:txBody>
      </p:sp>
      <p:sp>
        <p:nvSpPr>
          <p:cNvPr id="3" name="disc"/>
          <p:cNvSpPr/>
          <p:nvPr/>
        </p:nvSpPr>
        <p:spPr>
          <a:xfrm>
            <a:off x="548640" y="1417320"/>
            <a:ext cx="6949440" cy="2880360"/>
          </a:xfrm>
          <a:prstGeom prst="roundRect">
            <a:avLst>
              <a:gd name="adj" fmla="val 2540"/>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4" name="Text 2"/>
          <p:cNvSpPr txBox="1"/>
          <p:nvPr/>
        </p:nvSpPr>
        <p:spPr>
          <a:xfrm>
            <a:off x="868680" y="1600200"/>
            <a:ext cx="630936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DISCOVERY  ·  ASSET QUALITY  ·  BANK ARCHETYPE</a:t>
            </a:r>
            <a:endParaRPr lang="en-US" sz="1200" dirty="0"/>
          </a:p>
        </p:txBody>
      </p:sp>
      <p:sp>
        <p:nvSpPr>
          <p:cNvPr id="5" name="Text 3"/>
          <p:cNvSpPr txBox="1"/>
          <p:nvPr/>
        </p:nvSpPr>
        <p:spPr>
          <a:xfrm>
            <a:off x="868680" y="1938528"/>
            <a:ext cx="6309360" cy="2240280"/>
          </a:xfrm>
          <a:prstGeom prst="rect">
            <a:avLst/>
          </a:prstGeom>
          <a:noFill/>
          <a:ln/>
        </p:spPr>
        <p:txBody>
          <a:bodyPr wrap="square" lIns="0" tIns="0" rIns="0" bIns="0" rtlCol="0" anchor="t"/>
          <a:lstStyle/>
          <a:p>
            <a:pPr indent="0" marL="0">
              <a:buNone/>
            </a:pPr>
            <a:r>
              <a:rPr lang="en-US" sz="2100" dirty="0">
                <a:solidFill>
                  <a:schemeClr val="tx1"/>
                </a:solidFill>
                <a:latin typeface="Cambria" pitchFamily="34" charset="0"/>
                <a:ea typeface="Cambria" pitchFamily="34" charset="-122"/>
                <a:cs typeface="Cambria" pitchFamily="34" charset="-120"/>
              </a:rPr>
              <a:t>The subject bank's gross NPA ratio fell from 2.31% to 1.62% — but </a:t>
            </a:r>
            <a:pPr indent="0" marL="0">
              <a:buNone/>
            </a:pPr>
            <a:r>
              <a:rPr lang="en-US" sz="2100" b="1" dirty="0">
                <a:solidFill>
                  <a:schemeClr val="accent1"/>
                </a:solidFill>
                <a:latin typeface="Cambria" pitchFamily="34" charset="0"/>
                <a:ea typeface="Cambria" pitchFamily="34" charset="-122"/>
                <a:cs typeface="Cambria" pitchFamily="34" charset="-120"/>
              </a:rPr>
              <a:t>71% of NPA reductions were write-offs</a:t>
            </a:r>
            <a:pPr indent="0" marL="0">
              <a:buNone/>
            </a:pPr>
            <a:r>
              <a:rPr lang="en-US" sz="2100" dirty="0">
                <a:solidFill>
                  <a:schemeClr val="tx1"/>
                </a:solidFill>
                <a:latin typeface="Cambria" pitchFamily="34" charset="0"/>
                <a:ea typeface="Cambria" pitchFamily="34" charset="-122"/>
                <a:cs typeface="Cambria" pitchFamily="34" charset="-120"/>
              </a:rPr>
              <a:t>, while fresh slippage rose from 1.40% to 2.20% as the peer median stayed flat at 1.44%. Management credited collections in 5 of 6 calls.</a:t>
            </a:r>
            <a:endParaRPr lang="en-US" sz="2100" dirty="0"/>
          </a:p>
        </p:txBody>
      </p:sp>
      <p:sp>
        <p:nvSpPr>
          <p:cNvPr id="6" name="stat0"/>
          <p:cNvSpPr/>
          <p:nvPr/>
        </p:nvSpPr>
        <p:spPr>
          <a:xfrm>
            <a:off x="548640" y="4526280"/>
            <a:ext cx="1600200" cy="1097280"/>
          </a:xfrm>
          <a:prstGeom prst="roundRect">
            <a:avLst>
              <a:gd name="adj" fmla="val 6667"/>
            </a:avLst>
          </a:prstGeom>
          <a:solidFill>
            <a:schemeClr val="tx2"/>
          </a:solidFill>
          <a:ln w="9525">
            <a:solidFill>
              <a:schemeClr val="tx2"/>
            </a:solidFill>
            <a:prstDash val="solid"/>
          </a:ln>
          <a:effectLst>
            <a:outerShdw sx="100000" sy="100000" kx="0" ky="0" algn="bl" rotWithShape="0" blurRad="101600" dist="25400" dir="5400000">
              <a:srgbClr val="0F2E22">
                <a:alpha val="10000"/>
              </a:srgbClr>
            </a:outerShdw>
          </a:effectLst>
        </p:spPr>
      </p:sp>
      <p:sp>
        <p:nvSpPr>
          <p:cNvPr id="7" name="Text 5"/>
          <p:cNvSpPr txBox="1"/>
          <p:nvPr/>
        </p:nvSpPr>
        <p:spPr>
          <a:xfrm>
            <a:off x="731520" y="4599432"/>
            <a:ext cx="1234440" cy="566928"/>
          </a:xfrm>
          <a:prstGeom prst="rect">
            <a:avLst/>
          </a:prstGeom>
          <a:noFill/>
          <a:ln/>
        </p:spPr>
        <p:txBody>
          <a:bodyPr wrap="square" lIns="0" tIns="0" rIns="0" bIns="0" rtlCol="0" anchor="ctr"/>
          <a:lstStyle/>
          <a:p>
            <a:pPr indent="0" marL="0">
              <a:buNone/>
            </a:pPr>
            <a:r>
              <a:rPr lang="en-US" sz="2600" b="1" dirty="0">
                <a:solidFill>
                  <a:schemeClr val="bg1"/>
                </a:solidFill>
                <a:latin typeface="Calibri" pitchFamily="34" charset="0"/>
                <a:ea typeface="Calibri" pitchFamily="34" charset="-122"/>
                <a:cs typeface="Calibri" pitchFamily="34" charset="-120"/>
              </a:rPr>
              <a:t>STRONG</a:t>
            </a:r>
            <a:endParaRPr lang="en-US" sz="2600" dirty="0"/>
          </a:p>
        </p:txBody>
      </p:sp>
      <p:sp>
        <p:nvSpPr>
          <p:cNvPr id="8" name="Text 6"/>
          <p:cNvSpPr txBox="1"/>
          <p:nvPr/>
        </p:nvSpPr>
        <p:spPr>
          <a:xfrm>
            <a:off x="731520" y="5166360"/>
            <a:ext cx="1234440" cy="320040"/>
          </a:xfrm>
          <a:prstGeom prst="rect">
            <a:avLst/>
          </a:prstGeom>
          <a:noFill/>
          <a:ln/>
        </p:spPr>
        <p:txBody>
          <a:bodyPr wrap="square" lIns="0" tIns="0" rIns="0" bIns="0" rtlCol="0" anchor="ctr"/>
          <a:lstStyle/>
          <a:p>
            <a:pPr indent="0" marL="0">
              <a:buNone/>
            </a:pPr>
            <a:r>
              <a:rPr lang="en-US" sz="1200" dirty="0">
                <a:solidFill>
                  <a:srgbClr val="D1FAE5"/>
                </a:solidFill>
                <a:latin typeface="Calibri" pitchFamily="34" charset="0"/>
                <a:ea typeface="Calibri" pitchFamily="34" charset="-122"/>
                <a:cs typeface="Calibri" pitchFamily="34" charset="-120"/>
              </a:rPr>
              <a:t>Evidence strength</a:t>
            </a:r>
            <a:endParaRPr lang="en-US" sz="1200" dirty="0"/>
          </a:p>
        </p:txBody>
      </p:sp>
      <p:sp>
        <p:nvSpPr>
          <p:cNvPr id="9" name="stat1"/>
          <p:cNvSpPr/>
          <p:nvPr/>
        </p:nvSpPr>
        <p:spPr>
          <a:xfrm>
            <a:off x="2331720" y="4526280"/>
            <a:ext cx="1600200" cy="1097280"/>
          </a:xfrm>
          <a:prstGeom prst="roundRect">
            <a:avLst>
              <a:gd name="adj" fmla="val 666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0" name="Text 8"/>
          <p:cNvSpPr txBox="1"/>
          <p:nvPr/>
        </p:nvSpPr>
        <p:spPr>
          <a:xfrm>
            <a:off x="2514600" y="4599432"/>
            <a:ext cx="1234440" cy="566928"/>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8 / 9</a:t>
            </a:r>
            <a:endParaRPr lang="en-US" sz="2600" dirty="0"/>
          </a:p>
        </p:txBody>
      </p:sp>
      <p:sp>
        <p:nvSpPr>
          <p:cNvPr id="11" name="Text 9"/>
          <p:cNvSpPr txBox="1"/>
          <p:nvPr/>
        </p:nvSpPr>
        <p:spPr>
          <a:xfrm>
            <a:off x="2514600" y="5166360"/>
            <a:ext cx="1234440" cy="32004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Tests survived</a:t>
            </a:r>
            <a:endParaRPr lang="en-US" sz="1200" dirty="0"/>
          </a:p>
        </p:txBody>
      </p:sp>
      <p:sp>
        <p:nvSpPr>
          <p:cNvPr id="12" name="stat2"/>
          <p:cNvSpPr/>
          <p:nvPr/>
        </p:nvSpPr>
        <p:spPr>
          <a:xfrm>
            <a:off x="4114800" y="4526280"/>
            <a:ext cx="1600200" cy="1097280"/>
          </a:xfrm>
          <a:prstGeom prst="roundRect">
            <a:avLst>
              <a:gd name="adj" fmla="val 666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3" name="Text 11"/>
          <p:cNvSpPr txBox="1"/>
          <p:nvPr/>
        </p:nvSpPr>
        <p:spPr>
          <a:xfrm>
            <a:off x="4297680" y="4599432"/>
            <a:ext cx="1234440" cy="566928"/>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3</a:t>
            </a:r>
            <a:endParaRPr lang="en-US" sz="2600" dirty="0"/>
          </a:p>
        </p:txBody>
      </p:sp>
      <p:sp>
        <p:nvSpPr>
          <p:cNvPr id="14" name="Text 12"/>
          <p:cNvSpPr txBox="1"/>
          <p:nvPr/>
        </p:nvSpPr>
        <p:spPr>
          <a:xfrm>
            <a:off x="4297680" y="5166360"/>
            <a:ext cx="1234440" cy="32004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Source families</a:t>
            </a:r>
            <a:endParaRPr lang="en-US" sz="1200" dirty="0"/>
          </a:p>
        </p:txBody>
      </p:sp>
      <p:sp>
        <p:nvSpPr>
          <p:cNvPr id="15" name="stat3"/>
          <p:cNvSpPr/>
          <p:nvPr/>
        </p:nvSpPr>
        <p:spPr>
          <a:xfrm>
            <a:off x="5897880" y="4526280"/>
            <a:ext cx="1600200" cy="1097280"/>
          </a:xfrm>
          <a:prstGeom prst="roundRect">
            <a:avLst>
              <a:gd name="adj" fmla="val 6667"/>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16" name="Text 14"/>
          <p:cNvSpPr txBox="1"/>
          <p:nvPr/>
        </p:nvSpPr>
        <p:spPr>
          <a:xfrm>
            <a:off x="6080760" y="4599432"/>
            <a:ext cx="1234440" cy="566928"/>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5 Q</a:t>
            </a:r>
            <a:endParaRPr lang="en-US" sz="2600" dirty="0"/>
          </a:p>
        </p:txBody>
      </p:sp>
      <p:sp>
        <p:nvSpPr>
          <p:cNvPr id="17" name="Text 15"/>
          <p:cNvSpPr txBox="1"/>
          <p:nvPr/>
        </p:nvSpPr>
        <p:spPr>
          <a:xfrm>
            <a:off x="6080760" y="5166360"/>
            <a:ext cx="1234440" cy="32004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Persistence</a:t>
            </a:r>
            <a:endParaRPr lang="en-US" sz="1200" dirty="0"/>
          </a:p>
        </p:txBody>
      </p:sp>
      <p:sp>
        <p:nvSpPr>
          <p:cNvPr id="18" name="Text 16"/>
          <p:cNvSpPr txBox="1"/>
          <p:nvPr/>
        </p:nvSpPr>
        <p:spPr>
          <a:xfrm>
            <a:off x="548640" y="5788152"/>
            <a:ext cx="6949440" cy="274320"/>
          </a:xfrm>
          <a:prstGeom prst="rect">
            <a:avLst/>
          </a:prstGeom>
          <a:noFill/>
          <a:ln/>
        </p:spPr>
        <p:txBody>
          <a:bodyPr wrap="square" lIns="0" tIns="0" rIns="0" bIns="0" rtlCol="0" anchor="ctr"/>
          <a:lstStyle/>
          <a:p>
            <a:pPr indent="0" marL="0">
              <a:buNone/>
            </a:pPr>
            <a:r>
              <a:rPr lang="en-US" sz="1000" i="1" dirty="0">
                <a:solidFill>
                  <a:schemeClr val="accent6"/>
                </a:solidFill>
                <a:latin typeface="Calibri" pitchFamily="34" charset="0"/>
                <a:ea typeface="Calibri" pitchFamily="34" charset="-122"/>
                <a:cs typeface="Calibri" pitchFamily="34" charset="-120"/>
              </a:rPr>
              <a:t>Illustrative prototype output on a synthetic panel — not a finding about any real company.</a:t>
            </a:r>
            <a:endParaRPr lang="en-US" sz="1000" dirty="0"/>
          </a:p>
        </p:txBody>
      </p:sp>
      <p:sp>
        <p:nvSpPr>
          <p:cNvPr id="19" name="prov"/>
          <p:cNvSpPr/>
          <p:nvPr/>
        </p:nvSpPr>
        <p:spPr>
          <a:xfrm>
            <a:off x="7772400" y="1417320"/>
            <a:ext cx="3870655" cy="4206240"/>
          </a:xfrm>
          <a:prstGeom prst="roundRect">
            <a:avLst>
              <a:gd name="adj" fmla="val 1890"/>
            </a:avLst>
          </a:prstGeom>
          <a:solidFill>
            <a:schemeClr val="bg1"/>
          </a:solidFill>
          <a:ln w="9525">
            <a:solidFill>
              <a:srgbClr val="D5EADC"/>
            </a:solidFill>
            <a:prstDash val="solid"/>
          </a:ln>
          <a:effectLst>
            <a:outerShdw sx="100000" sy="100000" kx="0" ky="0" algn="bl" rotWithShape="0" blurRad="101600" dist="25400" dir="5400000">
              <a:srgbClr val="0F2E22">
                <a:alpha val="10000"/>
              </a:srgbClr>
            </a:outerShdw>
          </a:effectLst>
        </p:spPr>
      </p:sp>
      <p:sp>
        <p:nvSpPr>
          <p:cNvPr id="20" name="Text 18"/>
          <p:cNvSpPr txBox="1"/>
          <p:nvPr/>
        </p:nvSpPr>
        <p:spPr>
          <a:xfrm>
            <a:off x="8092440" y="1600200"/>
            <a:ext cx="3230575"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CLICK ANY NUMBER</a:t>
            </a:r>
            <a:endParaRPr lang="en-US" sz="1200" dirty="0"/>
          </a:p>
        </p:txBody>
      </p:sp>
      <p:sp>
        <p:nvSpPr>
          <p:cNvPr id="21" name="Text 19"/>
          <p:cNvSpPr txBox="1"/>
          <p:nvPr/>
        </p:nvSpPr>
        <p:spPr>
          <a:xfrm>
            <a:off x="8092440" y="1965960"/>
            <a:ext cx="3230575" cy="256032"/>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Calibri" pitchFamily="34" charset="0"/>
                <a:ea typeface="Calibri" pitchFamily="34" charset="-122"/>
                <a:cs typeface="Calibri" pitchFamily="34" charset="-120"/>
              </a:rPr>
              <a:t>VALUE</a:t>
            </a:r>
            <a:endParaRPr lang="en-US" sz="1100" dirty="0"/>
          </a:p>
        </p:txBody>
      </p:sp>
      <p:sp>
        <p:nvSpPr>
          <p:cNvPr id="22" name="Text 20"/>
          <p:cNvSpPr txBox="1"/>
          <p:nvPr/>
        </p:nvSpPr>
        <p:spPr>
          <a:xfrm>
            <a:off x="8092440" y="2221992"/>
            <a:ext cx="3230575" cy="5486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+₹14,953 cr fresh slippages</a:t>
            </a:r>
            <a:endParaRPr lang="en-US" sz="1700" dirty="0"/>
          </a:p>
        </p:txBody>
      </p:sp>
      <p:sp>
        <p:nvSpPr>
          <p:cNvPr id="23" name="Text 21"/>
          <p:cNvSpPr txBox="1"/>
          <p:nvPr/>
        </p:nvSpPr>
        <p:spPr>
          <a:xfrm>
            <a:off x="8092440" y="2697480"/>
            <a:ext cx="274320" cy="182880"/>
          </a:xfrm>
          <a:prstGeom prst="rect">
            <a:avLst/>
          </a:prstGeom>
          <a:noFill/>
          <a:ln/>
        </p:spPr>
        <p:txBody>
          <a:bodyPr wrap="square" lIns="0" tIns="0" rIns="0" bIns="0" rtlCol="0" anchor="ctr"/>
          <a:lstStyle/>
          <a:p>
            <a:pPr indent="0" marL="0">
              <a:buNone/>
            </a:pPr>
            <a:r>
              <a:rPr lang="en-US" sz="1100" dirty="0">
                <a:solidFill>
                  <a:schemeClr val="accent2"/>
                </a:solidFill>
                <a:latin typeface="Calibri" pitchFamily="34" charset="0"/>
                <a:ea typeface="Calibri" pitchFamily="34" charset="-122"/>
                <a:cs typeface="Calibri" pitchFamily="34" charset="-120"/>
              </a:rPr>
              <a:t>↓</a:t>
            </a:r>
            <a:endParaRPr lang="en-US" sz="1100" dirty="0"/>
          </a:p>
        </p:txBody>
      </p:sp>
      <p:sp>
        <p:nvSpPr>
          <p:cNvPr id="24" name="Text 22"/>
          <p:cNvSpPr txBox="1"/>
          <p:nvPr/>
        </p:nvSpPr>
        <p:spPr>
          <a:xfrm>
            <a:off x="8092440" y="2880360"/>
            <a:ext cx="3230575" cy="256032"/>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Calibri" pitchFamily="34" charset="0"/>
                <a:ea typeface="Calibri" pitchFamily="34" charset="-122"/>
                <a:cs typeface="Calibri" pitchFamily="34" charset="-120"/>
              </a:rPr>
              <a:t>FORMULA</a:t>
            </a:r>
            <a:endParaRPr lang="en-US" sz="1100" dirty="0"/>
          </a:p>
        </p:txBody>
      </p:sp>
      <p:sp>
        <p:nvSpPr>
          <p:cNvPr id="25" name="Text 23"/>
          <p:cNvSpPr txBox="1"/>
          <p:nvPr/>
        </p:nvSpPr>
        <p:spPr>
          <a:xfrm>
            <a:off x="8092440" y="3136392"/>
            <a:ext cx="3230575" cy="5486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open + slippages − upgrades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recoveries − write-offs = close ✓</a:t>
            </a:r>
            <a:endParaRPr lang="en-US" sz="1200" dirty="0"/>
          </a:p>
        </p:txBody>
      </p:sp>
      <p:sp>
        <p:nvSpPr>
          <p:cNvPr id="26" name="Text 24"/>
          <p:cNvSpPr txBox="1"/>
          <p:nvPr/>
        </p:nvSpPr>
        <p:spPr>
          <a:xfrm>
            <a:off x="8092440" y="3611880"/>
            <a:ext cx="274320" cy="182880"/>
          </a:xfrm>
          <a:prstGeom prst="rect">
            <a:avLst/>
          </a:prstGeom>
          <a:noFill/>
          <a:ln/>
        </p:spPr>
        <p:txBody>
          <a:bodyPr wrap="square" lIns="0" tIns="0" rIns="0" bIns="0" rtlCol="0" anchor="ctr"/>
          <a:lstStyle/>
          <a:p>
            <a:pPr indent="0" marL="0">
              <a:buNone/>
            </a:pPr>
            <a:r>
              <a:rPr lang="en-US" sz="1100" dirty="0">
                <a:solidFill>
                  <a:schemeClr val="accent2"/>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8092440" y="3794760"/>
            <a:ext cx="3230575" cy="256032"/>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Calibri" pitchFamily="34" charset="0"/>
                <a:ea typeface="Calibri" pitchFamily="34" charset="-122"/>
                <a:cs typeface="Calibri" pitchFamily="34" charset="-120"/>
              </a:rPr>
              <a:t>SOURCE</a:t>
            </a:r>
            <a:endParaRPr lang="en-US" sz="1100" dirty="0"/>
          </a:p>
        </p:txBody>
      </p:sp>
      <p:sp>
        <p:nvSpPr>
          <p:cNvPr id="28" name="Text 26"/>
          <p:cNvSpPr txBox="1"/>
          <p:nvPr/>
        </p:nvSpPr>
        <p:spPr>
          <a:xfrm>
            <a:off x="8092440" y="4050792"/>
            <a:ext cx="3230575"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Quarterly results · notes · p. 37</a:t>
            </a:r>
            <a:endParaRPr lang="en-US" sz="1300" dirty="0"/>
          </a:p>
        </p:txBody>
      </p:sp>
      <p:sp>
        <p:nvSpPr>
          <p:cNvPr id="29" name="Text 27"/>
          <p:cNvSpPr txBox="1"/>
          <p:nvPr/>
        </p:nvSpPr>
        <p:spPr>
          <a:xfrm>
            <a:off x="8092440" y="4526280"/>
            <a:ext cx="274320" cy="182880"/>
          </a:xfrm>
          <a:prstGeom prst="rect">
            <a:avLst/>
          </a:prstGeom>
          <a:noFill/>
          <a:ln/>
        </p:spPr>
        <p:txBody>
          <a:bodyPr wrap="square" lIns="0" tIns="0" rIns="0" bIns="0" rtlCol="0" anchor="ctr"/>
          <a:lstStyle/>
          <a:p>
            <a:pPr indent="0" marL="0">
              <a:buNone/>
            </a:pPr>
            <a:r>
              <a:rPr lang="en-US" sz="1100" dirty="0">
                <a:solidFill>
                  <a:schemeClr val="accent2"/>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8092440" y="4709160"/>
            <a:ext cx="3230575" cy="256032"/>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Calibri" pitchFamily="34" charset="0"/>
                <a:ea typeface="Calibri" pitchFamily="34" charset="-122"/>
                <a:cs typeface="Calibri" pitchFamily="34" charset="-120"/>
              </a:rPr>
              <a:t>PASSAGE</a:t>
            </a:r>
            <a:endParaRPr lang="en-US" sz="1100" dirty="0"/>
          </a:p>
        </p:txBody>
      </p:sp>
      <p:sp>
        <p:nvSpPr>
          <p:cNvPr id="31" name="Text 29"/>
          <p:cNvSpPr txBox="1"/>
          <p:nvPr/>
        </p:nvSpPr>
        <p:spPr>
          <a:xfrm>
            <a:off x="8092440" y="4965192"/>
            <a:ext cx="3230575"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"Additions — fresh slippages  3,266"</a:t>
            </a:r>
            <a:endParaRPr lang="en-US" sz="1300" dirty="0"/>
          </a:p>
        </p:txBody>
      </p:sp>
      <p:sp>
        <p:nvSpPr>
          <p:cNvPr id="32" name="Text 30"/>
          <p:cNvSpPr txBox="1"/>
          <p:nvPr/>
        </p:nvSpPr>
        <p:spPr>
          <a:xfrm>
            <a:off x="7772400" y="5788152"/>
            <a:ext cx="3870655" cy="274320"/>
          </a:xfrm>
          <a:prstGeom prst="rect">
            <a:avLst/>
          </a:prstGeom>
          <a:noFill/>
          <a:ln/>
        </p:spPr>
        <p:txBody>
          <a:bodyPr wrap="square" lIns="0" tIns="0" rIns="0" bIns="0" rtlCol="0" anchor="ctr"/>
          <a:lstStyle/>
          <a:p>
            <a:pPr indent="0" marL="0">
              <a:buNone/>
            </a:pPr>
            <a:r>
              <a:rPr lang="en-US" sz="1000" i="1" dirty="0">
                <a:solidFill>
                  <a:schemeClr val="accent6"/>
                </a:solidFill>
                <a:latin typeface="Calibri" pitchFamily="34" charset="0"/>
                <a:ea typeface="Calibri" pitchFamily="34" charset="-122"/>
                <a:cs typeface="Calibri" pitchFamily="34" charset="-120"/>
              </a:rPr>
              <a:t>The LLM never types a number — every figure is computed.</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Why SIGNAL is different</a:t>
            </a:r>
            <a:endParaRPr lang="en-US" sz="3200" dirty="0"/>
          </a:p>
        </p:txBody>
      </p:sp>
      <p:sp>
        <p:nvSpPr>
          <p:cNvPr id="3" name="diff0"/>
          <p:cNvSpPr/>
          <p:nvPr/>
        </p:nvSpPr>
        <p:spPr>
          <a:xfrm>
            <a:off x="548640" y="1371600"/>
            <a:ext cx="3515258" cy="1691640"/>
          </a:xfrm>
          <a:prstGeom prst="roundRect">
            <a:avLst>
              <a:gd name="adj" fmla="val 4324"/>
            </a:avLst>
          </a:prstGeom>
          <a:solidFill>
            <a:schemeClr val="bg1">
              <a:alpha val="12000"/>
            </a:schemeClr>
          </a:solidFill>
          <a:ln w="9525">
            <a:solidFill>
              <a:schemeClr val="accent4">
                <a:alpha val="50000"/>
              </a:schemeClr>
            </a:solidFill>
            <a:prstDash val="solid"/>
          </a:ln>
        </p:spPr>
      </p:sp>
      <p:sp>
        <p:nvSpPr>
          <p:cNvPr id="4" name="Text 2"/>
          <p:cNvSpPr txBox="1"/>
          <p:nvPr/>
        </p:nvSpPr>
        <p:spPr>
          <a:xfrm>
            <a:off x="822960" y="1536192"/>
            <a:ext cx="2966618"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No LLM-typed numbers</a:t>
            </a:r>
            <a:endParaRPr lang="en-US" sz="1800" dirty="0"/>
          </a:p>
        </p:txBody>
      </p:sp>
      <p:sp>
        <p:nvSpPr>
          <p:cNvPr id="5" name="Text 3"/>
          <p:cNvSpPr txBox="1"/>
          <p:nvPr/>
        </p:nvSpPr>
        <p:spPr>
          <a:xfrm>
            <a:off x="822960" y="1965960"/>
            <a:ext cx="2966618" cy="1005840"/>
          </a:xfrm>
          <a:prstGeom prst="rect">
            <a:avLst/>
          </a:prstGeom>
          <a:noFill/>
          <a:ln/>
        </p:spPr>
        <p:txBody>
          <a:bodyPr wrap="square" lIns="0" tIns="0" rIns="0" bIns="0" rtlCol="0" anchor="t"/>
          <a:lstStyle/>
          <a:p>
            <a:pPr indent="0" marL="0">
              <a:buNone/>
            </a:pPr>
            <a:r>
              <a:rPr lang="en-US" sz="1400" dirty="0">
                <a:solidFill>
                  <a:srgbClr val="D1FAE5"/>
                </a:solidFill>
                <a:latin typeface="Calibri" pitchFamily="34" charset="0"/>
                <a:ea typeface="Calibri" pitchFamily="34" charset="-122"/>
                <a:cs typeface="Calibri" pitchFamily="34" charset="-120"/>
              </a:rPr>
              <a:t>Every figure is a computed value traced to a page and passage. The model only reads text and writes prose.</a:t>
            </a:r>
            <a:endParaRPr lang="en-US" sz="1400" dirty="0"/>
          </a:p>
        </p:txBody>
      </p:sp>
      <p:sp>
        <p:nvSpPr>
          <p:cNvPr id="6" name="diff1"/>
          <p:cNvSpPr/>
          <p:nvPr/>
        </p:nvSpPr>
        <p:spPr>
          <a:xfrm>
            <a:off x="4338218" y="1371600"/>
            <a:ext cx="3515258" cy="1691640"/>
          </a:xfrm>
          <a:prstGeom prst="roundRect">
            <a:avLst>
              <a:gd name="adj" fmla="val 4324"/>
            </a:avLst>
          </a:prstGeom>
          <a:solidFill>
            <a:schemeClr val="bg1">
              <a:alpha val="12000"/>
            </a:schemeClr>
          </a:solidFill>
          <a:ln w="9525">
            <a:solidFill>
              <a:schemeClr val="accent4">
                <a:alpha val="50000"/>
              </a:schemeClr>
            </a:solidFill>
            <a:prstDash val="solid"/>
          </a:ln>
        </p:spPr>
      </p:sp>
      <p:sp>
        <p:nvSpPr>
          <p:cNvPr id="7" name="Text 5"/>
          <p:cNvSpPr txBox="1"/>
          <p:nvPr/>
        </p:nvSpPr>
        <p:spPr>
          <a:xfrm>
            <a:off x="4612538" y="1536192"/>
            <a:ext cx="2966618"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Independent evidence</a:t>
            </a:r>
            <a:endParaRPr lang="en-US" sz="1800" dirty="0"/>
          </a:p>
        </p:txBody>
      </p:sp>
      <p:sp>
        <p:nvSpPr>
          <p:cNvPr id="8" name="Text 6"/>
          <p:cNvSpPr txBox="1"/>
          <p:nvPr/>
        </p:nvSpPr>
        <p:spPr>
          <a:xfrm>
            <a:off x="4612538" y="1965960"/>
            <a:ext cx="2966618" cy="1005840"/>
          </a:xfrm>
          <a:prstGeom prst="rect">
            <a:avLst/>
          </a:prstGeom>
          <a:noFill/>
          <a:ln/>
        </p:spPr>
        <p:txBody>
          <a:bodyPr wrap="square" lIns="0" tIns="0" rIns="0" bIns="0" rtlCol="0" anchor="t"/>
          <a:lstStyle/>
          <a:p>
            <a:pPr indent="0" marL="0">
              <a:buNone/>
            </a:pPr>
            <a:r>
              <a:rPr lang="en-US" sz="1400" dirty="0">
                <a:solidFill>
                  <a:srgbClr val="D1FAE5"/>
                </a:solidFill>
                <a:latin typeface="Calibri" pitchFamily="34" charset="0"/>
                <a:ea typeface="Calibri" pitchFamily="34" charset="-122"/>
                <a:cs typeface="Calibri" pitchFamily="34" charset="-120"/>
              </a:rPr>
              <a:t>Company, peers, regulator, rating agency. Three news copies of one press release count once.</a:t>
            </a:r>
            <a:endParaRPr lang="en-US" sz="1400" dirty="0"/>
          </a:p>
        </p:txBody>
      </p:sp>
      <p:sp>
        <p:nvSpPr>
          <p:cNvPr id="9" name="diff2"/>
          <p:cNvSpPr/>
          <p:nvPr/>
        </p:nvSpPr>
        <p:spPr>
          <a:xfrm>
            <a:off x="8127797" y="1371600"/>
            <a:ext cx="3515258" cy="1691640"/>
          </a:xfrm>
          <a:prstGeom prst="roundRect">
            <a:avLst>
              <a:gd name="adj" fmla="val 4324"/>
            </a:avLst>
          </a:prstGeom>
          <a:solidFill>
            <a:schemeClr val="bg1">
              <a:alpha val="12000"/>
            </a:schemeClr>
          </a:solidFill>
          <a:ln w="9525">
            <a:solidFill>
              <a:schemeClr val="accent4">
                <a:alpha val="50000"/>
              </a:schemeClr>
            </a:solidFill>
            <a:prstDash val="solid"/>
          </a:ln>
        </p:spPr>
      </p:sp>
      <p:sp>
        <p:nvSpPr>
          <p:cNvPr id="10" name="Text 8"/>
          <p:cNvSpPr txBox="1"/>
          <p:nvPr/>
        </p:nvSpPr>
        <p:spPr>
          <a:xfrm>
            <a:off x="8402117" y="1536192"/>
            <a:ext cx="2966618"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Tested, not argued</a:t>
            </a:r>
            <a:endParaRPr lang="en-US" sz="1800" dirty="0"/>
          </a:p>
        </p:txBody>
      </p:sp>
      <p:sp>
        <p:nvSpPr>
          <p:cNvPr id="11" name="Text 9"/>
          <p:cNvSpPr txBox="1"/>
          <p:nvPr/>
        </p:nvSpPr>
        <p:spPr>
          <a:xfrm>
            <a:off x="8402117" y="1965960"/>
            <a:ext cx="2966618" cy="1005840"/>
          </a:xfrm>
          <a:prstGeom prst="rect">
            <a:avLst/>
          </a:prstGeom>
          <a:noFill/>
          <a:ln/>
        </p:spPr>
        <p:txBody>
          <a:bodyPr wrap="square" lIns="0" tIns="0" rIns="0" bIns="0" rtlCol="0" anchor="t"/>
          <a:lstStyle/>
          <a:p>
            <a:pPr indent="0" marL="0">
              <a:buNone/>
            </a:pPr>
            <a:r>
              <a:rPr lang="en-US" sz="1400" dirty="0">
                <a:solidFill>
                  <a:srgbClr val="D1FAE5"/>
                </a:solidFill>
                <a:latin typeface="Calibri" pitchFamily="34" charset="0"/>
                <a:ea typeface="Calibri" pitchFamily="34" charset="-122"/>
                <a:cs typeface="Calibri" pitchFamily="34" charset="-120"/>
              </a:rPr>
              <a:t>Each counter-explanation is code over data, registered before the results are seen.</a:t>
            </a:r>
            <a:endParaRPr lang="en-US" sz="1400" dirty="0"/>
          </a:p>
        </p:txBody>
      </p:sp>
      <p:sp>
        <p:nvSpPr>
          <p:cNvPr id="12" name="Text 10"/>
          <p:cNvSpPr txBox="1"/>
          <p:nvPr/>
        </p:nvSpPr>
        <p:spPr>
          <a:xfrm>
            <a:off x="548640" y="3337560"/>
            <a:ext cx="5410048" cy="274320"/>
          </a:xfrm>
          <a:prstGeom prst="rect">
            <a:avLst/>
          </a:prstGeom>
          <a:noFill/>
          <a:ln/>
        </p:spPr>
        <p:txBody>
          <a:bodyPr wrap="square" lIns="0" tIns="0" rIns="0" bIns="0" rtlCol="0" anchor="ctr"/>
          <a:lstStyle/>
          <a:p>
            <a:pPr indent="0" marL="0">
              <a:buNone/>
            </a:pPr>
            <a:r>
              <a:rPr lang="en-US" sz="1200" b="1" spc="200" kern="0" dirty="0">
                <a:solidFill>
                  <a:schemeClr val="accent4"/>
                </a:solidFill>
                <a:latin typeface="Calibri" pitchFamily="34" charset="0"/>
                <a:ea typeface="Calibri" pitchFamily="34" charset="-122"/>
                <a:cs typeface="Calibri" pitchFamily="34" charset="-120"/>
              </a:rPr>
              <a:t>GENERALISES BY ARCHETYPE, NOT BY COMPANY</a:t>
            </a:r>
            <a:endParaRPr lang="en-US" sz="1200" dirty="0"/>
          </a:p>
        </p:txBody>
      </p:sp>
      <p:sp>
        <p:nvSpPr>
          <p:cNvPr id="13" name="arch0"/>
          <p:cNvSpPr/>
          <p:nvPr/>
        </p:nvSpPr>
        <p:spPr>
          <a:xfrm>
            <a:off x="548640" y="3703320"/>
            <a:ext cx="2613584" cy="685800"/>
          </a:xfrm>
          <a:prstGeom prst="roundRect">
            <a:avLst>
              <a:gd name="adj" fmla="val 10667"/>
            </a:avLst>
          </a:prstGeom>
          <a:solidFill>
            <a:schemeClr val="bg1"/>
          </a:solidFill>
          <a:ln w="12700">
            <a:solidFill>
              <a:schemeClr val="bg1"/>
            </a:solidFill>
            <a:prstDash val="solid"/>
          </a:ln>
        </p:spPr>
      </p:sp>
      <p:sp>
        <p:nvSpPr>
          <p:cNvPr id="14" name="Text 12"/>
          <p:cNvSpPr txBox="1"/>
          <p:nvPr/>
        </p:nvSpPr>
        <p:spPr>
          <a:xfrm>
            <a:off x="777240" y="3703320"/>
            <a:ext cx="2156384" cy="6858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Banks</a:t>
            </a:r>
            <a:endParaRPr lang="en-US" sz="1500" dirty="0"/>
          </a:p>
          <a:p>
            <a:pPr indent="0" marL="0">
              <a:buNone/>
            </a:pPr>
            <a:r>
              <a:rPr lang="en-US" sz="1200" dirty="0">
                <a:solidFill>
                  <a:schemeClr val="accent6"/>
                </a:solidFill>
                <a:latin typeface="Calibri" pitchFamily="34" charset="0"/>
                <a:ea typeface="Calibri" pitchFamily="34" charset="-122"/>
                <a:cs typeface="Calibri" pitchFamily="34" charset="-120"/>
              </a:rPr>
              <a:t>NPA flows, deposits, capital</a:t>
            </a:r>
            <a:endParaRPr lang="en-US" sz="1500" dirty="0"/>
          </a:p>
        </p:txBody>
      </p:sp>
      <p:sp>
        <p:nvSpPr>
          <p:cNvPr id="15" name="arch1"/>
          <p:cNvSpPr/>
          <p:nvPr/>
        </p:nvSpPr>
        <p:spPr>
          <a:xfrm>
            <a:off x="3345104" y="3703320"/>
            <a:ext cx="2613584" cy="685800"/>
          </a:xfrm>
          <a:prstGeom prst="roundRect">
            <a:avLst>
              <a:gd name="adj" fmla="val 10667"/>
            </a:avLst>
          </a:prstGeom>
          <a:solidFill>
            <a:schemeClr val="bg1"/>
          </a:solidFill>
          <a:ln w="12700">
            <a:solidFill>
              <a:schemeClr val="bg1"/>
            </a:solidFill>
            <a:prstDash val="solid"/>
          </a:ln>
        </p:spPr>
      </p:sp>
      <p:sp>
        <p:nvSpPr>
          <p:cNvPr id="16" name="Text 14"/>
          <p:cNvSpPr txBox="1"/>
          <p:nvPr/>
        </p:nvSpPr>
        <p:spPr>
          <a:xfrm>
            <a:off x="3573704" y="3703320"/>
            <a:ext cx="2156384" cy="6858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NBFCs</a:t>
            </a:r>
            <a:endParaRPr lang="en-US" sz="1500" dirty="0"/>
          </a:p>
          <a:p>
            <a:pPr indent="0" marL="0">
              <a:buNone/>
            </a:pPr>
            <a:r>
              <a:rPr lang="en-US" sz="1200" dirty="0">
                <a:solidFill>
                  <a:schemeClr val="accent6"/>
                </a:solidFill>
                <a:latin typeface="Calibri" pitchFamily="34" charset="0"/>
                <a:ea typeface="Calibri" pitchFamily="34" charset="-122"/>
                <a:cs typeface="Calibri" pitchFamily="34" charset="-120"/>
              </a:rPr>
              <a:t>AUM, funding mix, Stage 2</a:t>
            </a:r>
            <a:endParaRPr lang="en-US" sz="1500" dirty="0"/>
          </a:p>
        </p:txBody>
      </p:sp>
      <p:sp>
        <p:nvSpPr>
          <p:cNvPr id="17" name="arch2"/>
          <p:cNvSpPr/>
          <p:nvPr/>
        </p:nvSpPr>
        <p:spPr>
          <a:xfrm>
            <a:off x="548640" y="4526280"/>
            <a:ext cx="2613584" cy="685800"/>
          </a:xfrm>
          <a:prstGeom prst="roundRect">
            <a:avLst>
              <a:gd name="adj" fmla="val 10667"/>
            </a:avLst>
          </a:prstGeom>
          <a:solidFill>
            <a:schemeClr val="bg1"/>
          </a:solidFill>
          <a:ln w="12700">
            <a:solidFill>
              <a:schemeClr val="bg1"/>
            </a:solidFill>
            <a:prstDash val="solid"/>
          </a:ln>
        </p:spPr>
      </p:sp>
      <p:sp>
        <p:nvSpPr>
          <p:cNvPr id="18" name="Text 16"/>
          <p:cNvSpPr txBox="1"/>
          <p:nvPr/>
        </p:nvSpPr>
        <p:spPr>
          <a:xfrm>
            <a:off x="777240" y="4526280"/>
            <a:ext cx="2156384" cy="6858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Insurers</a:t>
            </a:r>
            <a:endParaRPr lang="en-US" sz="1500" dirty="0"/>
          </a:p>
          <a:p>
            <a:pPr indent="0" marL="0">
              <a:buNone/>
            </a:pPr>
            <a:r>
              <a:rPr lang="en-US" sz="1200" dirty="0">
                <a:solidFill>
                  <a:schemeClr val="accent6"/>
                </a:solidFill>
                <a:latin typeface="Calibri" pitchFamily="34" charset="0"/>
                <a:ea typeface="Calibri" pitchFamily="34" charset="-122"/>
                <a:cs typeface="Calibri" pitchFamily="34" charset="-120"/>
              </a:rPr>
              <a:t>APE mix, margins</a:t>
            </a:r>
            <a:endParaRPr lang="en-US" sz="1500" dirty="0"/>
          </a:p>
        </p:txBody>
      </p:sp>
      <p:sp>
        <p:nvSpPr>
          <p:cNvPr id="19" name="arch3"/>
          <p:cNvSpPr/>
          <p:nvPr/>
        </p:nvSpPr>
        <p:spPr>
          <a:xfrm>
            <a:off x="3345104" y="4526280"/>
            <a:ext cx="2613584" cy="685800"/>
          </a:xfrm>
          <a:prstGeom prst="roundRect">
            <a:avLst>
              <a:gd name="adj" fmla="val 10667"/>
            </a:avLst>
          </a:prstGeom>
          <a:solidFill>
            <a:schemeClr val="bg1"/>
          </a:solidFill>
          <a:ln w="12700">
            <a:solidFill>
              <a:schemeClr val="bg1"/>
            </a:solidFill>
            <a:prstDash val="solid"/>
          </a:ln>
        </p:spPr>
      </p:sp>
      <p:sp>
        <p:nvSpPr>
          <p:cNvPr id="20" name="Text 18"/>
          <p:cNvSpPr txBox="1"/>
          <p:nvPr/>
        </p:nvSpPr>
        <p:spPr>
          <a:xfrm>
            <a:off x="3573704" y="4526280"/>
            <a:ext cx="2156384" cy="6858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Infra · Holdcos</a:t>
            </a:r>
            <a:endParaRPr lang="en-US" sz="1500" dirty="0"/>
          </a:p>
          <a:p>
            <a:pPr indent="0" marL="0">
              <a:buNone/>
            </a:pPr>
            <a:r>
              <a:rPr lang="en-US" sz="1200" dirty="0">
                <a:solidFill>
                  <a:schemeClr val="accent6"/>
                </a:solidFill>
                <a:latin typeface="Calibri" pitchFamily="34" charset="0"/>
                <a:ea typeface="Calibri" pitchFamily="34" charset="-122"/>
                <a:cs typeface="Calibri" pitchFamily="34" charset="-120"/>
              </a:rPr>
              <a:t>Generic identities</a:t>
            </a:r>
            <a:endParaRPr lang="en-US" sz="1500" dirty="0"/>
          </a:p>
        </p:txBody>
      </p:sp>
      <p:sp>
        <p:nvSpPr>
          <p:cNvPr id="21" name="Text 19"/>
          <p:cNvSpPr txBox="1"/>
          <p:nvPr/>
        </p:nvSpPr>
        <p:spPr>
          <a:xfrm>
            <a:off x="548640" y="5394960"/>
            <a:ext cx="5410048" cy="320040"/>
          </a:xfrm>
          <a:prstGeom prst="rect">
            <a:avLst/>
          </a:prstGeom>
          <a:noFill/>
          <a:ln/>
        </p:spPr>
        <p:txBody>
          <a:bodyPr wrap="square" lIns="0" tIns="0" rIns="0" bIns="0" rtlCol="0" anchor="ctr"/>
          <a:lstStyle/>
          <a:p>
            <a:pPr indent="0" marL="0">
              <a:buNone/>
            </a:pPr>
            <a:r>
              <a:rPr lang="en-US" sz="1300" dirty="0">
                <a:solidFill>
                  <a:srgbClr val="D1FAE5"/>
                </a:solidFill>
                <a:latin typeface="Calibri" pitchFamily="34" charset="0"/>
                <a:ea typeface="Calibri" pitchFamily="34" charset="-122"/>
                <a:cs typeface="Calibri" pitchFamily="34" charset="-120"/>
              </a:rPr>
              <a:t>Benchmarked on held-out NIFTY and non-NIFTY companies, plus as-of backtests.</a:t>
            </a:r>
            <a:endParaRPr lang="en-US" sz="1300" dirty="0"/>
          </a:p>
        </p:txBody>
      </p:sp>
      <p:sp>
        <p:nvSpPr>
          <p:cNvPr id="22" name="Text 20"/>
          <p:cNvSpPr txBox="1"/>
          <p:nvPr/>
        </p:nvSpPr>
        <p:spPr>
          <a:xfrm>
            <a:off x="6233008" y="3337560"/>
            <a:ext cx="5410048" cy="274320"/>
          </a:xfrm>
          <a:prstGeom prst="rect">
            <a:avLst/>
          </a:prstGeom>
          <a:noFill/>
          <a:ln/>
        </p:spPr>
        <p:txBody>
          <a:bodyPr wrap="square" lIns="0" tIns="0" rIns="0" bIns="0" rtlCol="0" anchor="ctr"/>
          <a:lstStyle/>
          <a:p>
            <a:pPr indent="0" marL="0">
              <a:buNone/>
            </a:pPr>
            <a:r>
              <a:rPr lang="en-US" sz="1200" b="1" spc="200" kern="0" dirty="0">
                <a:solidFill>
                  <a:schemeClr val="accent4"/>
                </a:solidFill>
                <a:latin typeface="Calibri" pitchFamily="34" charset="0"/>
                <a:ea typeface="Calibri" pitchFamily="34" charset="-122"/>
                <a:cs typeface="Calibri" pitchFamily="34" charset="-120"/>
              </a:rPr>
              <a:t>BUILT ON</a:t>
            </a:r>
            <a:endParaRPr lang="en-US" sz="1200" dirty="0"/>
          </a:p>
        </p:txBody>
      </p:sp>
      <p:sp>
        <p:nvSpPr>
          <p:cNvPr id="23" name="Text 21"/>
          <p:cNvSpPr txBox="1"/>
          <p:nvPr/>
        </p:nvSpPr>
        <p:spPr>
          <a:xfrm>
            <a:off x="6233008" y="3703320"/>
            <a:ext cx="541004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Public data only: NSE/BSE filings, RBI, rating rationales</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Python state machine · DuckDB · XBRL-first extraction</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LLM at temperature 0, cached for exact replay</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React front end with click-through evidence trail</a:t>
            </a:r>
            <a:endParaRPr lang="en-US" sz="1400" dirty="0"/>
          </a:p>
        </p:txBody>
      </p:sp>
      <p:sp>
        <p:nvSpPr>
          <p:cNvPr id="24" name="Text 22"/>
          <p:cNvSpPr txBox="1"/>
          <p:nvPr/>
        </p:nvSpPr>
        <p:spPr>
          <a:xfrm>
            <a:off x="6233008" y="5166360"/>
            <a:ext cx="5410048" cy="10972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Thank you</a:t>
            </a:r>
            <a:endParaRPr lang="en-US" sz="3000" dirty="0"/>
          </a:p>
          <a:p>
            <a:pPr indent="0" marL="0">
              <a:buNone/>
            </a:pPr>
            <a:r>
              <a:rPr lang="en-US" sz="1400" i="1" dirty="0">
                <a:solidFill>
                  <a:schemeClr val="accent4"/>
                </a:solidFill>
                <a:latin typeface="Calibri" pitchFamily="34" charset="0"/>
                <a:ea typeface="Calibri" pitchFamily="34" charset="-122"/>
                <a:cs typeface="Calibri" pitchFamily="34" charset="-120"/>
              </a:rPr>
              <a:t>Find the breach. Trace the evidence. Try to break the hypothesis.</a:t>
            </a:r>
            <a:endParaRPr lang="en-US" sz="3000" dirty="0"/>
          </a:p>
        </p:txBody>
      </p:sp>
      <p:sp>
        <p:nvSpPr>
          <p:cNvPr id="25" name="Text 2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Team The Blacklisted  ·  ATMOS 2026</a:t>
            </a:r>
            <a:endParaRPr lang="en-US" sz="1000" dirty="0"/>
          </a:p>
        </p:txBody>
      </p:sp>
    </p:spTree>
  </p:cSld>
  <p:clrMapOvr>
    <a:masterClrMapping/>
  </p:clrMapOvr>
</p:sld>
</file>

<file path=ppt/theme/theme1.xml><?xml version="1.0" encoding="utf-8"?>
<a:theme xmlns:a="http://schemas.openxmlformats.org/drawingml/2006/main" name="SIGNAL Green">
  <a:themeElements>
    <a:clrScheme name="SIGNAL Green">
      <a:dk1>
        <a:srgbClr val="0F2E22"/>
      </a:dk1>
      <a:lt1>
        <a:srgbClr val="FFFFFF"/>
      </a:lt1>
      <a:dk2>
        <a:srgbClr val="14532D"/>
      </a:dk2>
      <a:lt2>
        <a:srgbClr val="E7F5EC"/>
      </a:lt2>
      <a:accent1>
        <a:srgbClr val="15803D"/>
      </a:accent1>
      <a:accent2>
        <a:srgbClr val="10B981"/>
      </a:accent2>
      <a:accent3>
        <a:srgbClr val="065F46"/>
      </a:accent3>
      <a:accent4>
        <a:srgbClr val="A7F3D0"/>
      </a:accent4>
      <a:accent5>
        <a:srgbClr val="D97706"/>
      </a:accent5>
      <a:accent6>
        <a:srgbClr val="5B6B63"/>
      </a:accent6>
      <a:hlink>
        <a:srgbClr val="15803D"/>
      </a:hlink>
      <a:folHlink>
        <a:srgbClr val="065F46"/>
      </a:folHlink>
    </a:clrScheme>
    <a:fontScheme name="SIGNAL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 - Autonomous Financial Research</dc:title>
  <dc:subject>PptxGenJS Presentation</dc:subject>
  <dc:creator>The Blacklisted</dc:creator>
  <cp:lastModifiedBy>The Blacklisted</cp:lastModifiedBy>
  <cp:revision>1</cp:revision>
  <dcterms:created xsi:type="dcterms:W3CDTF">2026-10-23T12:15:47Z</dcterms:created>
  <dcterms:modified xsi:type="dcterms:W3CDTF">2026-10-23T12:15:47Z</dcterms:modified>
</cp:coreProperties>
</file>